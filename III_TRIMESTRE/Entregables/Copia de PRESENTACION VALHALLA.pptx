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embeddedFontLst>
    <p:embeddedFont>
      <p:font typeface="Roboto"/>
      <p:regular r:id="rId19"/>
      <p:bold r:id="rId20"/>
      <p:italic r:id="rId21"/>
      <p:boldItalic r:id="rId22"/>
    </p:embeddedFont>
    <p:embeddedFont>
      <p:font typeface="Work Sans Medium"/>
      <p:regular r:id="rId23"/>
      <p:bold r:id="rId24"/>
      <p:italic r:id="rId25"/>
      <p:boldItalic r:id="rId26"/>
    </p:embeddedFont>
    <p:embeddedFont>
      <p:font typeface="Work Sans Light"/>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jd1mFTp2/ezV/pskl2y3F7FUOd1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WorkSansMedium-bold.fntdata"/><Relationship Id="rId23" Type="http://schemas.openxmlformats.org/officeDocument/2006/relationships/font" Target="fonts/WorkSansMedium-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WorkSansMedium-boldItalic.fntdata"/><Relationship Id="rId25" Type="http://schemas.openxmlformats.org/officeDocument/2006/relationships/font" Target="fonts/WorkSansMedium-italic.fntdata"/><Relationship Id="rId28" Type="http://schemas.openxmlformats.org/officeDocument/2006/relationships/font" Target="fonts/WorkSansLight-bold.fntdata"/><Relationship Id="rId27" Type="http://schemas.openxmlformats.org/officeDocument/2006/relationships/font" Target="fonts/WorkSansLight-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WorkSansLight-italic.fntdata"/><Relationship Id="rId7" Type="http://schemas.openxmlformats.org/officeDocument/2006/relationships/slide" Target="slides/slide3.xml"/><Relationship Id="rId8" Type="http://schemas.openxmlformats.org/officeDocument/2006/relationships/slide" Target="slides/slide4.xml"/><Relationship Id="rId31" Type="http://customschemas.google.com/relationships/presentationmetadata" Target="metadata"/><Relationship Id="rId30" Type="http://schemas.openxmlformats.org/officeDocument/2006/relationships/font" Target="fonts/WorkSansLight-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Roboto-regular.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02" name="Google Shape;1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09" name="Google Shape;10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18" name="Google Shape;11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26" name="Google Shape;12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40" name="Google Shape;14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48" name="Google Shape;14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57" name="Google Shape;15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1bce7702bb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66" name="Google Shape;166;g31bce7702bb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62f4424a5a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78" name="Google Shape;178;g362f4424a5a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62f4424a5a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88" name="Google Shape;188;g362f4424a5a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62f4424a5a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98" name="Google Shape;198;g362f4424a5a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62f4424a5a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08" name="Google Shape;208;g362f4424a5a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18" name="Google Shape;21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15" name="Shape 15"/>
        <p:cNvGrpSpPr/>
        <p:nvPr/>
      </p:nvGrpSpPr>
      <p:grpSpPr>
        <a:xfrm>
          <a:off x="0" y="0"/>
          <a:ext cx="0" cy="0"/>
          <a:chOff x="0" y="0"/>
          <a:chExt cx="0" cy="0"/>
        </a:xfrm>
      </p:grpSpPr>
      <p:sp>
        <p:nvSpPr>
          <p:cNvPr id="16" name="Google Shape;16;p1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6"/>
          <p:cNvSpPr/>
          <p:nvPr>
            <p:ph idx="2" type="pic"/>
          </p:nvPr>
        </p:nvSpPr>
        <p:spPr>
          <a:xfrm>
            <a:off x="5183188" y="987425"/>
            <a:ext cx="6172200" cy="4873625"/>
          </a:xfrm>
          <a:prstGeom prst="rect">
            <a:avLst/>
          </a:prstGeom>
          <a:noFill/>
          <a:ln>
            <a:noFill/>
          </a:ln>
        </p:spPr>
      </p:sp>
      <p:sp>
        <p:nvSpPr>
          <p:cNvPr id="18" name="Google Shape;18;p1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9" name="Google Shape;19;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5" name="Google Shape;2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6" name="Google Shape;26;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Encabezado de sección">
  <p:cSld name="2_Encabezado de sección">
    <p:spTree>
      <p:nvGrpSpPr>
        <p:cNvPr id="27" name="Shape 27"/>
        <p:cNvGrpSpPr/>
        <p:nvPr/>
      </p:nvGrpSpPr>
      <p:grpSpPr>
        <a:xfrm>
          <a:off x="0" y="0"/>
          <a:ext cx="0" cy="0"/>
          <a:chOff x="0" y="0"/>
          <a:chExt cx="0" cy="0"/>
        </a:xfrm>
      </p:grpSpPr>
      <p:pic>
        <p:nvPicPr>
          <p:cNvPr descr="Patrón de fondo&#10;&#10;Descripción generada automáticamente" id="28" name="Google Shape;28;p18"/>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29" name="Google Shape;29;p18"/>
          <p:cNvPicPr preferRelativeResize="0"/>
          <p:nvPr/>
        </p:nvPicPr>
        <p:blipFill rotWithShape="1">
          <a:blip r:embed="rId3">
            <a:alphaModFix/>
          </a:blip>
          <a:srcRect b="0" l="0" r="0" t="0"/>
          <a:stretch/>
        </p:blipFill>
        <p:spPr>
          <a:xfrm>
            <a:off x="11054859" y="303050"/>
            <a:ext cx="855785" cy="83398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30" name="Shape 30"/>
        <p:cNvGrpSpPr/>
        <p:nvPr/>
      </p:nvGrpSpPr>
      <p:grpSpPr>
        <a:xfrm>
          <a:off x="0" y="0"/>
          <a:ext cx="0" cy="0"/>
          <a:chOff x="0" y="0"/>
          <a:chExt cx="0" cy="0"/>
        </a:xfrm>
      </p:grpSpPr>
      <p:sp>
        <p:nvSpPr>
          <p:cNvPr id="31" name="Google Shape;3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34" name="Shape 34"/>
        <p:cNvGrpSpPr/>
        <p:nvPr/>
      </p:nvGrpSpPr>
      <p:grpSpPr>
        <a:xfrm>
          <a:off x="0" y="0"/>
          <a:ext cx="0" cy="0"/>
          <a:chOff x="0" y="0"/>
          <a:chExt cx="0" cy="0"/>
        </a:xfrm>
      </p:grpSpPr>
      <p:sp>
        <p:nvSpPr>
          <p:cNvPr id="35" name="Google Shape;35;p2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7" name="Google Shape;3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40" name="Shape 40"/>
        <p:cNvGrpSpPr/>
        <p:nvPr/>
      </p:nvGrpSpPr>
      <p:grpSpPr>
        <a:xfrm>
          <a:off x="0" y="0"/>
          <a:ext cx="0" cy="0"/>
          <a:chOff x="0" y="0"/>
          <a:chExt cx="0" cy="0"/>
        </a:xfrm>
      </p:grpSpPr>
      <p:sp>
        <p:nvSpPr>
          <p:cNvPr id="41" name="Google Shape;41;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46" name="Shape 46"/>
        <p:cNvGrpSpPr/>
        <p:nvPr/>
      </p:nvGrpSpPr>
      <p:grpSpPr>
        <a:xfrm>
          <a:off x="0" y="0"/>
          <a:ext cx="0" cy="0"/>
          <a:chOff x="0" y="0"/>
          <a:chExt cx="0" cy="0"/>
        </a:xfrm>
      </p:grpSpPr>
      <p:sp>
        <p:nvSpPr>
          <p:cNvPr id="47" name="Google Shape;47;p2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9" name="Google Shape;49;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52" name="Shape 52"/>
        <p:cNvGrpSpPr/>
        <p:nvPr/>
      </p:nvGrpSpPr>
      <p:grpSpPr>
        <a:xfrm>
          <a:off x="0" y="0"/>
          <a:ext cx="0" cy="0"/>
          <a:chOff x="0" y="0"/>
          <a:chExt cx="0" cy="0"/>
        </a:xfrm>
      </p:grpSpPr>
      <p:sp>
        <p:nvSpPr>
          <p:cNvPr id="53" name="Google Shape;53;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2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9" name="Shape 59"/>
        <p:cNvGrpSpPr/>
        <p:nvPr/>
      </p:nvGrpSpPr>
      <p:grpSpPr>
        <a:xfrm>
          <a:off x="0" y="0"/>
          <a:ext cx="0" cy="0"/>
          <a:chOff x="0" y="0"/>
          <a:chExt cx="0" cy="0"/>
        </a:xfrm>
      </p:grpSpPr>
      <p:sp>
        <p:nvSpPr>
          <p:cNvPr id="60" name="Google Shape;60;p2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2" name="Google Shape;62;p2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4" name="Google Shape;64;p2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68" name="Shape 68"/>
        <p:cNvGrpSpPr/>
        <p:nvPr/>
      </p:nvGrpSpPr>
      <p:grpSpPr>
        <a:xfrm>
          <a:off x="0" y="0"/>
          <a:ext cx="0" cy="0"/>
          <a:chOff x="0" y="0"/>
          <a:chExt cx="0" cy="0"/>
        </a:xfrm>
      </p:grpSpPr>
      <p:sp>
        <p:nvSpPr>
          <p:cNvPr id="69" name="Google Shape;6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73" name="Shape 73"/>
        <p:cNvGrpSpPr/>
        <p:nvPr/>
      </p:nvGrpSpPr>
      <p:grpSpPr>
        <a:xfrm>
          <a:off x="0" y="0"/>
          <a:ext cx="0" cy="0"/>
          <a:chOff x="0" y="0"/>
          <a:chExt cx="0" cy="0"/>
        </a:xfrm>
      </p:grpSpPr>
      <p:sp>
        <p:nvSpPr>
          <p:cNvPr id="74" name="Google Shape;74;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6" name="Google Shape;76;p2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 name="Google Shape;7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80" name="Shape 80"/>
        <p:cNvGrpSpPr/>
        <p:nvPr/>
      </p:nvGrpSpPr>
      <p:grpSpPr>
        <a:xfrm>
          <a:off x="0" y="0"/>
          <a:ext cx="0" cy="0"/>
          <a:chOff x="0" y="0"/>
          <a:chExt cx="0" cy="0"/>
        </a:xfrm>
      </p:grpSpPr>
      <p:sp>
        <p:nvSpPr>
          <p:cNvPr id="81" name="Google Shape;81;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6" name="Shape 86"/>
        <p:cNvGrpSpPr/>
        <p:nvPr/>
      </p:nvGrpSpPr>
      <p:grpSpPr>
        <a:xfrm>
          <a:off x="0" y="0"/>
          <a:ext cx="0" cy="0"/>
          <a:chOff x="0" y="0"/>
          <a:chExt cx="0" cy="0"/>
        </a:xfrm>
      </p:grpSpPr>
      <p:sp>
        <p:nvSpPr>
          <p:cNvPr id="87" name="Google Shape;87;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1.png"/><Relationship Id="rId6"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hyperlink" Target="https://docs.google.com/document/d/1aOHF1-GCL_2S4Ytl5_sHQwSBU3XX85Zm/edit?usp=sharing&amp;ouid=113851609166169504605&amp;rtpof=true&amp;sd=tru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docs.google.com/document/d/1aOHF1-GCL_2S4Ytl5_sHQwSBU3XX85Zm/edit?usp=sharing&amp;ouid=113851609166169504605&amp;rtpof=true&amp;sd=true" TargetMode="Externa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github.com/Artbaddon/vallhalla-backend-final" TargetMode="External"/><Relationship Id="rId4" Type="http://schemas.openxmlformats.org/officeDocument/2006/relationships/hyperlink" Target="https://github.com/Artbaddon/vallhalla-frontend-final" TargetMode="External"/><Relationship Id="rId5" Type="http://schemas.openxmlformats.org/officeDocument/2006/relationships/image" Target="../media/image4.png"/><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github.com/JohanGM06/prototype-vallhalla" TargetMode="Externa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drive.google.com/file/d/1iSx5qozg3sLNpcWqLWSAmWmMutUATEnG/view?usp=drive_link" TargetMode="Externa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localhost:3002/admin/" TargetMode="Externa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documenter.getpostman.com/view/45070968/2sB34cnh5M" TargetMode="Externa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1"/>
          <p:cNvPicPr preferRelativeResize="0"/>
          <p:nvPr/>
        </p:nvPicPr>
        <p:blipFill rotWithShape="1">
          <a:blip r:embed="rId3">
            <a:alphaModFix amt="25000"/>
          </a:blip>
          <a:srcRect b="0" l="0" r="0" t="0"/>
          <a:stretch/>
        </p:blipFill>
        <p:spPr>
          <a:xfrm>
            <a:off x="3863563" y="2097207"/>
            <a:ext cx="4277550" cy="2849423"/>
          </a:xfrm>
          <a:prstGeom prst="rect">
            <a:avLst/>
          </a:prstGeom>
          <a:noFill/>
          <a:ln>
            <a:noFill/>
          </a:ln>
        </p:spPr>
      </p:pic>
      <p:pic>
        <p:nvPicPr>
          <p:cNvPr descr="Window" id="97" name="Google Shape;97;p1"/>
          <p:cNvPicPr preferRelativeResize="0"/>
          <p:nvPr>
            <p:ph idx="2" type="pic"/>
          </p:nvPr>
        </p:nvPicPr>
        <p:blipFill rotWithShape="1">
          <a:blip r:embed="rId4">
            <a:alphaModFix/>
          </a:blip>
          <a:srcRect b="100000" l="-3150" r="3147" t="-100000"/>
          <a:stretch/>
        </p:blipFill>
        <p:spPr>
          <a:xfrm>
            <a:off x="300470" y="206391"/>
            <a:ext cx="11891530" cy="1480366"/>
          </a:xfrm>
          <a:prstGeom prst="rect">
            <a:avLst/>
          </a:prstGeom>
          <a:noFill/>
          <a:ln>
            <a:noFill/>
          </a:ln>
        </p:spPr>
      </p:pic>
      <p:sp>
        <p:nvSpPr>
          <p:cNvPr id="98" name="Google Shape;98;p1"/>
          <p:cNvSpPr txBox="1"/>
          <p:nvPr/>
        </p:nvSpPr>
        <p:spPr>
          <a:xfrm>
            <a:off x="8004014" y="6085642"/>
            <a:ext cx="405482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s-MX" sz="2000" u="none" cap="none" strike="noStrike">
                <a:solidFill>
                  <a:schemeClr val="accent6"/>
                </a:solidFill>
                <a:latin typeface="Calibri"/>
                <a:ea typeface="Calibri"/>
                <a:cs typeface="Calibri"/>
                <a:sym typeface="Calibri"/>
              </a:rPr>
              <a:t>Análisis y Desarrollo de Software</a:t>
            </a:r>
            <a:endParaRPr b="0" i="0" sz="1400" u="none" cap="none" strike="noStrike">
              <a:solidFill>
                <a:srgbClr val="000000"/>
              </a:solidFill>
              <a:latin typeface="Arial"/>
              <a:ea typeface="Arial"/>
              <a:cs typeface="Arial"/>
              <a:sym typeface="Arial"/>
            </a:endParaRPr>
          </a:p>
        </p:txBody>
      </p:sp>
      <p:sp>
        <p:nvSpPr>
          <p:cNvPr id="99" name="Google Shape;99;p1"/>
          <p:cNvSpPr txBox="1"/>
          <p:nvPr/>
        </p:nvSpPr>
        <p:spPr>
          <a:xfrm>
            <a:off x="4582350" y="3867350"/>
            <a:ext cx="30273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es-MX" sz="4000" u="none" cap="none" strike="noStrike">
                <a:solidFill>
                  <a:schemeClr val="dk1"/>
                </a:solidFill>
                <a:latin typeface="Work Sans Medium"/>
                <a:ea typeface="Work Sans Medium"/>
                <a:cs typeface="Work Sans Medium"/>
                <a:sym typeface="Work Sans Medium"/>
              </a:rPr>
              <a:t>VALHALLA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Integrantes</a:t>
            </a:r>
            <a:endParaRPr/>
          </a:p>
        </p:txBody>
      </p:sp>
      <p:sp>
        <p:nvSpPr>
          <p:cNvPr id="105" name="Google Shape;105;p2"/>
          <p:cNvSpPr txBox="1"/>
          <p:nvPr/>
        </p:nvSpPr>
        <p:spPr>
          <a:xfrm>
            <a:off x="6008701" y="3224106"/>
            <a:ext cx="5805900" cy="17547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chemeClr val="dk1"/>
              </a:buClr>
              <a:buSzPts val="1800"/>
              <a:buFont typeface="Calibri"/>
              <a:buChar char="•"/>
            </a:pPr>
            <a:r>
              <a:rPr b="0" i="0" lang="es-MX" sz="1800" u="none" cap="none" strike="noStrike">
                <a:solidFill>
                  <a:schemeClr val="dk1"/>
                </a:solidFill>
                <a:latin typeface="Calibri"/>
                <a:ea typeface="Calibri"/>
                <a:cs typeface="Calibri"/>
                <a:sym typeface="Calibri"/>
              </a:rPr>
              <a:t>Sebastian Arturo Sotelo Moreno</a:t>
            </a:r>
            <a:endParaRPr b="0" i="0" sz="1800" u="none" cap="none" strike="noStrike">
              <a:solidFill>
                <a:schemeClr val="dk1"/>
              </a:solidFill>
              <a:latin typeface="Calibri"/>
              <a:ea typeface="Calibri"/>
              <a:cs typeface="Calibri"/>
              <a:sym typeface="Calibri"/>
            </a:endParaRPr>
          </a:p>
          <a:p>
            <a:pPr indent="-342900" lvl="0" marL="457200" marR="0" rtl="0" algn="l">
              <a:lnSpc>
                <a:spcPct val="100000"/>
              </a:lnSpc>
              <a:spcBef>
                <a:spcPts val="0"/>
              </a:spcBef>
              <a:spcAft>
                <a:spcPts val="0"/>
              </a:spcAft>
              <a:buClr>
                <a:schemeClr val="dk1"/>
              </a:buClr>
              <a:buSzPts val="1800"/>
              <a:buFont typeface="Calibri"/>
              <a:buChar char="•"/>
            </a:pPr>
            <a:r>
              <a:rPr b="0" i="0" lang="es-MX" sz="1800" u="none" cap="none" strike="noStrike">
                <a:solidFill>
                  <a:schemeClr val="dk1"/>
                </a:solidFill>
                <a:latin typeface="Calibri"/>
                <a:ea typeface="Calibri"/>
                <a:cs typeface="Calibri"/>
                <a:sym typeface="Calibri"/>
              </a:rPr>
              <a:t>María Alejandra Lozano Bojacá</a:t>
            </a:r>
            <a:endParaRPr b="0" i="0" sz="1800" u="none" cap="none" strike="noStrike">
              <a:solidFill>
                <a:schemeClr val="dk1"/>
              </a:solidFill>
              <a:latin typeface="Calibri"/>
              <a:ea typeface="Calibri"/>
              <a:cs typeface="Calibri"/>
              <a:sym typeface="Calibri"/>
            </a:endParaRPr>
          </a:p>
          <a:p>
            <a:pPr indent="-342900" lvl="0" marL="457200" marR="0" rtl="0" algn="l">
              <a:lnSpc>
                <a:spcPct val="100000"/>
              </a:lnSpc>
              <a:spcBef>
                <a:spcPts val="0"/>
              </a:spcBef>
              <a:spcAft>
                <a:spcPts val="0"/>
              </a:spcAft>
              <a:buClr>
                <a:schemeClr val="dk1"/>
              </a:buClr>
              <a:buSzPts val="1800"/>
              <a:buFont typeface="Calibri"/>
              <a:buChar char="•"/>
            </a:pPr>
            <a:r>
              <a:rPr b="0" i="0" lang="es-MX" sz="1800" u="none" cap="none" strike="noStrike">
                <a:solidFill>
                  <a:schemeClr val="dk1"/>
                </a:solidFill>
                <a:latin typeface="Calibri"/>
                <a:ea typeface="Calibri"/>
                <a:cs typeface="Calibri"/>
                <a:sym typeface="Calibri"/>
              </a:rPr>
              <a:t>Johan Steven González Monroy </a:t>
            </a:r>
            <a:endParaRPr b="0" i="0" sz="1800" u="none" cap="none" strike="noStrike">
              <a:solidFill>
                <a:schemeClr val="dk1"/>
              </a:solidFill>
              <a:latin typeface="Calibri"/>
              <a:ea typeface="Calibri"/>
              <a:cs typeface="Calibri"/>
              <a:sym typeface="Calibri"/>
            </a:endParaRPr>
          </a:p>
          <a:p>
            <a:pPr indent="-342900" lvl="0" marL="457200" marR="0" rtl="0" algn="l">
              <a:lnSpc>
                <a:spcPct val="100000"/>
              </a:lnSpc>
              <a:spcBef>
                <a:spcPts val="0"/>
              </a:spcBef>
              <a:spcAft>
                <a:spcPts val="0"/>
              </a:spcAft>
              <a:buClr>
                <a:schemeClr val="dk1"/>
              </a:buClr>
              <a:buSzPts val="1800"/>
              <a:buFont typeface="Calibri"/>
              <a:buChar char="•"/>
            </a:pPr>
            <a:r>
              <a:rPr b="0" i="0" lang="es-MX" sz="1800" u="none" cap="none" strike="noStrike">
                <a:solidFill>
                  <a:schemeClr val="dk1"/>
                </a:solidFill>
                <a:latin typeface="Calibri"/>
                <a:ea typeface="Calibri"/>
                <a:cs typeface="Calibri"/>
                <a:sym typeface="Calibri"/>
              </a:rPr>
              <a:t>Aldair José Narváez Vergara</a:t>
            </a:r>
            <a:endParaRPr b="0" i="0" sz="1800" u="none" cap="none" strike="noStrike">
              <a:solidFill>
                <a:schemeClr val="dk1"/>
              </a:solidFill>
              <a:latin typeface="Calibri"/>
              <a:ea typeface="Calibri"/>
              <a:cs typeface="Calibri"/>
              <a:sym typeface="Calibri"/>
            </a:endParaRPr>
          </a:p>
          <a:p>
            <a:pPr indent="-342900" lvl="0" marL="457200" marR="0" rtl="0" algn="l">
              <a:lnSpc>
                <a:spcPct val="100000"/>
              </a:lnSpc>
              <a:spcBef>
                <a:spcPts val="0"/>
              </a:spcBef>
              <a:spcAft>
                <a:spcPts val="0"/>
              </a:spcAft>
              <a:buClr>
                <a:schemeClr val="dk1"/>
              </a:buClr>
              <a:buSzPts val="1800"/>
              <a:buFont typeface="Calibri"/>
              <a:buChar char="•"/>
            </a:pPr>
            <a:r>
              <a:rPr b="0" i="0" lang="es-MX" sz="1800" u="none" cap="none" strike="noStrike">
                <a:solidFill>
                  <a:schemeClr val="dk1"/>
                </a:solidFill>
                <a:latin typeface="Calibri"/>
                <a:ea typeface="Calibri"/>
                <a:cs typeface="Calibri"/>
                <a:sym typeface="Calibri"/>
              </a:rPr>
              <a:t>Cristian Arboleda </a:t>
            </a:r>
            <a:endParaRPr b="0" i="0" sz="1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6" name="Google Shape;106;p2"/>
          <p:cNvPicPr preferRelativeResize="0"/>
          <p:nvPr/>
        </p:nvPicPr>
        <p:blipFill rotWithShape="1">
          <a:blip r:embed="rId3">
            <a:alphaModFix/>
          </a:blip>
          <a:srcRect b="0" l="0" r="0" t="0"/>
          <a:stretch/>
        </p:blipFill>
        <p:spPr>
          <a:xfrm>
            <a:off x="560775" y="2519681"/>
            <a:ext cx="5036821" cy="293814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Formulación del Proyecto </a:t>
            </a:r>
            <a:endParaRPr/>
          </a:p>
        </p:txBody>
      </p:sp>
      <p:sp>
        <p:nvSpPr>
          <p:cNvPr id="112" name="Google Shape;112;p3"/>
          <p:cNvSpPr txBox="1"/>
          <p:nvPr/>
        </p:nvSpPr>
        <p:spPr>
          <a:xfrm>
            <a:off x="8182700" y="2706700"/>
            <a:ext cx="2315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s-MX" sz="3600" u="none" cap="none" strike="noStrike">
                <a:solidFill>
                  <a:schemeClr val="dk1"/>
                </a:solidFill>
                <a:latin typeface="Calibri"/>
                <a:ea typeface="Calibri"/>
                <a:cs typeface="Calibri"/>
                <a:sym typeface="Calibri"/>
              </a:rPr>
              <a:t>VALHALLA</a:t>
            </a:r>
            <a:endParaRPr b="0" i="0" sz="1400" u="none" cap="none" strike="noStrike">
              <a:solidFill>
                <a:srgbClr val="000000"/>
              </a:solidFill>
              <a:latin typeface="Arial"/>
              <a:ea typeface="Arial"/>
              <a:cs typeface="Arial"/>
              <a:sym typeface="Arial"/>
            </a:endParaRPr>
          </a:p>
        </p:txBody>
      </p:sp>
      <p:cxnSp>
        <p:nvCxnSpPr>
          <p:cNvPr id="113" name="Google Shape;113;p3"/>
          <p:cNvCxnSpPr/>
          <p:nvPr/>
        </p:nvCxnSpPr>
        <p:spPr>
          <a:xfrm>
            <a:off x="6021302" y="3837708"/>
            <a:ext cx="720000" cy="0"/>
          </a:xfrm>
          <a:prstGeom prst="straightConnector1">
            <a:avLst/>
          </a:prstGeom>
          <a:noFill/>
          <a:ln cap="flat" cmpd="sng" w="50800">
            <a:solidFill>
              <a:schemeClr val="accent6"/>
            </a:solidFill>
            <a:prstDash val="solid"/>
            <a:miter lim="800000"/>
            <a:headEnd len="sm" w="sm" type="none"/>
            <a:tailEnd len="sm" w="sm" type="none"/>
          </a:ln>
        </p:spPr>
      </p:cxnSp>
      <p:sp>
        <p:nvSpPr>
          <p:cNvPr id="114" name="Google Shape;114;p3"/>
          <p:cNvSpPr txBox="1"/>
          <p:nvPr/>
        </p:nvSpPr>
        <p:spPr>
          <a:xfrm>
            <a:off x="5909569" y="3969099"/>
            <a:ext cx="60960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Sistema de gestión de propiedad horizontal que ayudará a agilizar y mejorar procesos administrativos para el conjunto Puerta de la Alameda</a:t>
            </a:r>
            <a:endParaRPr b="0" i="0" sz="1400" u="none" cap="none" strike="noStrike">
              <a:solidFill>
                <a:srgbClr val="000000"/>
              </a:solidFill>
              <a:latin typeface="Arial"/>
              <a:ea typeface="Arial"/>
              <a:cs typeface="Arial"/>
              <a:sym typeface="Arial"/>
            </a:endParaRPr>
          </a:p>
        </p:txBody>
      </p:sp>
      <p:pic>
        <p:nvPicPr>
          <p:cNvPr id="115" name="Google Shape;115;p3"/>
          <p:cNvPicPr preferRelativeResize="0"/>
          <p:nvPr/>
        </p:nvPicPr>
        <p:blipFill rotWithShape="1">
          <a:blip r:embed="rId3">
            <a:alphaModFix/>
          </a:blip>
          <a:srcRect b="0" l="0" r="0" t="0"/>
          <a:stretch/>
        </p:blipFill>
        <p:spPr>
          <a:xfrm>
            <a:off x="735000" y="2167800"/>
            <a:ext cx="4457800" cy="3609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txBox="1"/>
          <p:nvPr/>
        </p:nvSpPr>
        <p:spPr>
          <a:xfrm>
            <a:off x="950054" y="605917"/>
            <a:ext cx="5547843" cy="107303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2600"/>
              <a:buFont typeface="Work Sans Light"/>
              <a:buNone/>
            </a:pPr>
            <a:r>
              <a:rPr b="0" i="0" lang="es-MX" sz="2600" u="none" cap="none" strike="noStrike">
                <a:solidFill>
                  <a:srgbClr val="38AA00"/>
                </a:solidFill>
                <a:latin typeface="Work Sans Light"/>
                <a:ea typeface="Work Sans Light"/>
                <a:cs typeface="Work Sans Light"/>
                <a:sym typeface="Work Sans Light"/>
              </a:rPr>
              <a:t>Objetivo General</a:t>
            </a:r>
            <a:endParaRPr b="0" i="0" sz="1800" u="none" cap="none" strike="noStrike">
              <a:solidFill>
                <a:schemeClr val="dk1"/>
              </a:solidFill>
              <a:latin typeface="Calibri"/>
              <a:ea typeface="Calibri"/>
              <a:cs typeface="Calibri"/>
              <a:sym typeface="Calibri"/>
            </a:endParaRPr>
          </a:p>
        </p:txBody>
      </p:sp>
      <p:cxnSp>
        <p:nvCxnSpPr>
          <p:cNvPr id="121" name="Google Shape;121;p4"/>
          <p:cNvCxnSpPr>
            <a:stCxn id="120" idx="1"/>
          </p:cNvCxnSpPr>
          <p:nvPr/>
        </p:nvCxnSpPr>
        <p:spPr>
          <a:xfrm flipH="1" rot="10800000">
            <a:off x="950054" y="1094432"/>
            <a:ext cx="5042400" cy="48000"/>
          </a:xfrm>
          <a:prstGeom prst="straightConnector1">
            <a:avLst/>
          </a:prstGeom>
          <a:noFill/>
          <a:ln cap="flat" cmpd="sng" w="50800">
            <a:solidFill>
              <a:schemeClr val="accent6"/>
            </a:solidFill>
            <a:prstDash val="solid"/>
            <a:miter lim="800000"/>
            <a:headEnd len="sm" w="sm" type="none"/>
            <a:tailEnd len="sm" w="sm" type="none"/>
          </a:ln>
        </p:spPr>
      </p:cxnSp>
      <p:sp>
        <p:nvSpPr>
          <p:cNvPr id="122" name="Google Shape;122;p4"/>
          <p:cNvSpPr txBox="1"/>
          <p:nvPr/>
        </p:nvSpPr>
        <p:spPr>
          <a:xfrm>
            <a:off x="1079800" y="2772875"/>
            <a:ext cx="4782900" cy="1847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0" i="0" lang="es-MX" sz="1800" u="none" cap="none" strike="noStrike">
                <a:solidFill>
                  <a:schemeClr val="dk1"/>
                </a:solidFill>
                <a:latin typeface="Arial"/>
                <a:ea typeface="Arial"/>
                <a:cs typeface="Arial"/>
                <a:sym typeface="Arial"/>
              </a:rPr>
              <a:t>Implementar el software de gestión de propiedad horizontal Valhalla en el conjunto residencial Puerta de la alameda para modernizar las operaciones, agilizar los procesos y mejorar los procesos internos de propietarios y administradores</a:t>
            </a:r>
            <a:endParaRPr b="0" i="0" sz="1800" u="none" cap="none" strike="noStrike">
              <a:solidFill>
                <a:schemeClr val="dk1"/>
              </a:solidFill>
              <a:latin typeface="Arial"/>
              <a:ea typeface="Arial"/>
              <a:cs typeface="Arial"/>
              <a:sym typeface="Arial"/>
            </a:endParaRPr>
          </a:p>
        </p:txBody>
      </p:sp>
      <p:pic>
        <p:nvPicPr>
          <p:cNvPr id="123" name="Google Shape;123;p4"/>
          <p:cNvPicPr preferRelativeResize="0"/>
          <p:nvPr/>
        </p:nvPicPr>
        <p:blipFill rotWithShape="1">
          <a:blip r:embed="rId3">
            <a:alphaModFix/>
          </a:blip>
          <a:srcRect b="0" l="0" r="0" t="0"/>
          <a:stretch/>
        </p:blipFill>
        <p:spPr>
          <a:xfrm>
            <a:off x="6637100" y="2272750"/>
            <a:ext cx="5042400" cy="263885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txBox="1"/>
          <p:nvPr/>
        </p:nvSpPr>
        <p:spPr>
          <a:xfrm>
            <a:off x="950054" y="605917"/>
            <a:ext cx="5547843" cy="107303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2600"/>
              <a:buFont typeface="Work Sans Light"/>
              <a:buNone/>
            </a:pPr>
            <a:r>
              <a:rPr b="0" i="0" lang="es-MX" sz="2600" u="none" cap="none" strike="noStrike">
                <a:solidFill>
                  <a:srgbClr val="38AA00"/>
                </a:solidFill>
                <a:latin typeface="Work Sans Light"/>
                <a:ea typeface="Work Sans Light"/>
                <a:cs typeface="Work Sans Light"/>
                <a:sym typeface="Work Sans Light"/>
              </a:rPr>
              <a:t>Objetivo Específicos</a:t>
            </a:r>
            <a:endParaRPr b="0" i="0" sz="1800" u="none" cap="none" strike="noStrike">
              <a:solidFill>
                <a:schemeClr val="dk1"/>
              </a:solidFill>
              <a:latin typeface="Calibri"/>
              <a:ea typeface="Calibri"/>
              <a:cs typeface="Calibri"/>
              <a:sym typeface="Calibri"/>
            </a:endParaRPr>
          </a:p>
        </p:txBody>
      </p:sp>
      <p:cxnSp>
        <p:nvCxnSpPr>
          <p:cNvPr id="129" name="Google Shape;129;p5"/>
          <p:cNvCxnSpPr>
            <a:stCxn id="128" idx="1"/>
          </p:cNvCxnSpPr>
          <p:nvPr/>
        </p:nvCxnSpPr>
        <p:spPr>
          <a:xfrm flipH="1" rot="10800000">
            <a:off x="950054" y="1094432"/>
            <a:ext cx="5042400" cy="48000"/>
          </a:xfrm>
          <a:prstGeom prst="straightConnector1">
            <a:avLst/>
          </a:prstGeom>
          <a:noFill/>
          <a:ln cap="flat" cmpd="sng" w="50800">
            <a:solidFill>
              <a:schemeClr val="accent6"/>
            </a:solidFill>
            <a:prstDash val="solid"/>
            <a:miter lim="800000"/>
            <a:headEnd len="sm" w="sm" type="none"/>
            <a:tailEnd len="sm" w="sm" type="none"/>
          </a:ln>
        </p:spPr>
      </p:cxnSp>
      <p:sp>
        <p:nvSpPr>
          <p:cNvPr id="130" name="Google Shape;130;p5"/>
          <p:cNvSpPr txBox="1"/>
          <p:nvPr/>
        </p:nvSpPr>
        <p:spPr>
          <a:xfrm>
            <a:off x="1182963" y="2975000"/>
            <a:ext cx="3430500" cy="993300"/>
          </a:xfrm>
          <a:prstGeom prst="rect">
            <a:avLst/>
          </a:prstGeom>
          <a:noFill/>
          <a:ln>
            <a:noFill/>
          </a:ln>
        </p:spPr>
        <p:txBody>
          <a:bodyPr anchorCtr="0" anchor="t" bIns="91425" lIns="91425" spcFirstLastPara="1" rIns="91425" wrap="square" tIns="91425">
            <a:normAutofit/>
          </a:bodyPr>
          <a:lstStyle/>
          <a:p>
            <a:pPr indent="-331089" lvl="0" marL="457200" marR="0" rtl="0" algn="just">
              <a:lnSpc>
                <a:spcPct val="115000"/>
              </a:lnSpc>
              <a:spcBef>
                <a:spcPts val="800"/>
              </a:spcBef>
              <a:spcAft>
                <a:spcPts val="0"/>
              </a:spcAft>
              <a:buClr>
                <a:schemeClr val="dk1"/>
              </a:buClr>
              <a:buSzPts val="1614"/>
              <a:buFont typeface="Arial"/>
              <a:buChar char="●"/>
            </a:pPr>
            <a:r>
              <a:rPr b="0" i="0" lang="es-MX" sz="1614" u="none" cap="none" strike="noStrike">
                <a:solidFill>
                  <a:schemeClr val="dk1"/>
                </a:solidFill>
                <a:latin typeface="Arial"/>
                <a:ea typeface="Arial"/>
                <a:cs typeface="Arial"/>
                <a:sym typeface="Arial"/>
              </a:rPr>
              <a:t>Desarrollar un módulo de gestión de residentes.</a:t>
            </a:r>
            <a:endParaRPr b="0" i="0" sz="1614" u="none" cap="none" strike="noStrike">
              <a:solidFill>
                <a:schemeClr val="dk1"/>
              </a:solidFill>
              <a:latin typeface="Arial"/>
              <a:ea typeface="Arial"/>
              <a:cs typeface="Arial"/>
              <a:sym typeface="Arial"/>
            </a:endParaRPr>
          </a:p>
        </p:txBody>
      </p:sp>
      <p:sp>
        <p:nvSpPr>
          <p:cNvPr id="131" name="Google Shape;131;p5"/>
          <p:cNvSpPr txBox="1"/>
          <p:nvPr/>
        </p:nvSpPr>
        <p:spPr>
          <a:xfrm>
            <a:off x="1328400" y="5343675"/>
            <a:ext cx="3430500" cy="993300"/>
          </a:xfrm>
          <a:prstGeom prst="rect">
            <a:avLst/>
          </a:prstGeom>
          <a:noFill/>
          <a:ln>
            <a:noFill/>
          </a:ln>
        </p:spPr>
        <p:txBody>
          <a:bodyPr anchorCtr="0" anchor="t" bIns="91425" lIns="91425" spcFirstLastPara="1" rIns="91425" wrap="square" tIns="91425">
            <a:normAutofit/>
          </a:bodyPr>
          <a:lstStyle/>
          <a:p>
            <a:pPr indent="-331089" lvl="0" marL="457200" marR="0" rtl="0" algn="just">
              <a:lnSpc>
                <a:spcPct val="115000"/>
              </a:lnSpc>
              <a:spcBef>
                <a:spcPts val="800"/>
              </a:spcBef>
              <a:spcAft>
                <a:spcPts val="0"/>
              </a:spcAft>
              <a:buClr>
                <a:schemeClr val="dk1"/>
              </a:buClr>
              <a:buSzPts val="1614"/>
              <a:buFont typeface="Arial"/>
              <a:buChar char="●"/>
            </a:pPr>
            <a:r>
              <a:rPr b="0" i="0" lang="es-MX" sz="1614" u="none" cap="none" strike="noStrike">
                <a:solidFill>
                  <a:schemeClr val="dk1"/>
                </a:solidFill>
                <a:latin typeface="Arial"/>
                <a:ea typeface="Arial"/>
                <a:cs typeface="Arial"/>
                <a:sym typeface="Arial"/>
              </a:rPr>
              <a:t>Integrar un sistema de pagos en línea seguro y eficiente.</a:t>
            </a:r>
            <a:endParaRPr b="0" i="0" sz="1614" u="none" cap="none" strike="noStrike">
              <a:solidFill>
                <a:schemeClr val="dk1"/>
              </a:solidFill>
              <a:latin typeface="Arial"/>
              <a:ea typeface="Arial"/>
              <a:cs typeface="Arial"/>
              <a:sym typeface="Arial"/>
            </a:endParaRPr>
          </a:p>
        </p:txBody>
      </p:sp>
      <p:sp>
        <p:nvSpPr>
          <p:cNvPr id="132" name="Google Shape;132;p5"/>
          <p:cNvSpPr txBox="1"/>
          <p:nvPr/>
        </p:nvSpPr>
        <p:spPr>
          <a:xfrm>
            <a:off x="7047925" y="2857600"/>
            <a:ext cx="4240200" cy="993300"/>
          </a:xfrm>
          <a:prstGeom prst="rect">
            <a:avLst/>
          </a:prstGeom>
          <a:noFill/>
          <a:ln>
            <a:noFill/>
          </a:ln>
        </p:spPr>
        <p:txBody>
          <a:bodyPr anchorCtr="0" anchor="t" bIns="91425" lIns="91425" spcFirstLastPara="1" rIns="91425" wrap="square" tIns="91425">
            <a:normAutofit lnSpcReduction="10000"/>
          </a:bodyPr>
          <a:lstStyle/>
          <a:p>
            <a:pPr indent="-331089" lvl="0" marL="457200" marR="0" rtl="0" algn="just">
              <a:lnSpc>
                <a:spcPct val="115000"/>
              </a:lnSpc>
              <a:spcBef>
                <a:spcPts val="800"/>
              </a:spcBef>
              <a:spcAft>
                <a:spcPts val="0"/>
              </a:spcAft>
              <a:buClr>
                <a:schemeClr val="dk1"/>
              </a:buClr>
              <a:buSzPts val="1614"/>
              <a:buFont typeface="Arial"/>
              <a:buChar char="●"/>
            </a:pPr>
            <a:r>
              <a:rPr b="0" i="0" lang="es-MX" sz="1614" u="none" cap="none" strike="noStrike">
                <a:solidFill>
                  <a:schemeClr val="dk1"/>
                </a:solidFill>
                <a:latin typeface="Arial"/>
                <a:ea typeface="Arial"/>
                <a:cs typeface="Arial"/>
                <a:sym typeface="Arial"/>
              </a:rPr>
              <a:t>Establecer un módulo de gestión de espacios comunes, incluyendo reservas y mantenimiento.</a:t>
            </a:r>
            <a:endParaRPr b="0" i="0" sz="1614" u="none" cap="none" strike="noStrike">
              <a:solidFill>
                <a:schemeClr val="dk1"/>
              </a:solidFill>
              <a:latin typeface="Arial"/>
              <a:ea typeface="Arial"/>
              <a:cs typeface="Arial"/>
              <a:sym typeface="Arial"/>
            </a:endParaRPr>
          </a:p>
        </p:txBody>
      </p:sp>
      <p:sp>
        <p:nvSpPr>
          <p:cNvPr id="133" name="Google Shape;133;p5"/>
          <p:cNvSpPr txBox="1"/>
          <p:nvPr/>
        </p:nvSpPr>
        <p:spPr>
          <a:xfrm>
            <a:off x="7141975" y="5315850"/>
            <a:ext cx="4304400" cy="993300"/>
          </a:xfrm>
          <a:prstGeom prst="rect">
            <a:avLst/>
          </a:prstGeom>
          <a:noFill/>
          <a:ln>
            <a:noFill/>
          </a:ln>
        </p:spPr>
        <p:txBody>
          <a:bodyPr anchorCtr="0" anchor="t" bIns="91425" lIns="91425" spcFirstLastPara="1" rIns="91425" wrap="square" tIns="91425">
            <a:noAutofit/>
          </a:bodyPr>
          <a:lstStyle/>
          <a:p>
            <a:pPr indent="-330200" lvl="0" marL="457200" marR="0" rtl="0" algn="just">
              <a:lnSpc>
                <a:spcPct val="115000"/>
              </a:lnSpc>
              <a:spcBef>
                <a:spcPts val="800"/>
              </a:spcBef>
              <a:spcAft>
                <a:spcPts val="0"/>
              </a:spcAft>
              <a:buClr>
                <a:schemeClr val="dk1"/>
              </a:buClr>
              <a:buSzPts val="1600"/>
              <a:buFont typeface="Arial"/>
              <a:buChar char="●"/>
            </a:pPr>
            <a:r>
              <a:rPr b="0" i="0" lang="es-MX" sz="1600" u="none" cap="none" strike="noStrike">
                <a:solidFill>
                  <a:schemeClr val="dk1"/>
                </a:solidFill>
                <a:latin typeface="Arial"/>
                <a:ea typeface="Arial"/>
                <a:cs typeface="Arial"/>
                <a:sym typeface="Arial"/>
              </a:rPr>
              <a:t>Implementar un módulo de gestión integral de estacionamientos, incluyendo control de acceso y salida.</a:t>
            </a:r>
            <a:endParaRPr b="0" i="0" sz="1600" u="none" cap="none" strike="noStrike">
              <a:solidFill>
                <a:schemeClr val="dk1"/>
              </a:solidFill>
              <a:latin typeface="Arial"/>
              <a:ea typeface="Arial"/>
              <a:cs typeface="Arial"/>
              <a:sym typeface="Arial"/>
            </a:endParaRPr>
          </a:p>
        </p:txBody>
      </p:sp>
      <p:pic>
        <p:nvPicPr>
          <p:cNvPr id="134" name="Google Shape;134;p5"/>
          <p:cNvPicPr preferRelativeResize="0"/>
          <p:nvPr/>
        </p:nvPicPr>
        <p:blipFill rotWithShape="1">
          <a:blip r:embed="rId3">
            <a:alphaModFix/>
          </a:blip>
          <a:srcRect b="0" l="0" r="0" t="0"/>
          <a:stretch/>
        </p:blipFill>
        <p:spPr>
          <a:xfrm>
            <a:off x="2108249" y="1348750"/>
            <a:ext cx="1714299" cy="1714299"/>
          </a:xfrm>
          <a:prstGeom prst="rect">
            <a:avLst/>
          </a:prstGeom>
          <a:noFill/>
          <a:ln>
            <a:noFill/>
          </a:ln>
        </p:spPr>
      </p:pic>
      <p:pic>
        <p:nvPicPr>
          <p:cNvPr id="135" name="Google Shape;135;p5"/>
          <p:cNvPicPr preferRelativeResize="0"/>
          <p:nvPr/>
        </p:nvPicPr>
        <p:blipFill rotWithShape="1">
          <a:blip r:embed="rId4">
            <a:alphaModFix/>
          </a:blip>
          <a:srcRect b="0" l="0" r="0" t="0"/>
          <a:stretch/>
        </p:blipFill>
        <p:spPr>
          <a:xfrm>
            <a:off x="8621549" y="1563038"/>
            <a:ext cx="1482251" cy="1285725"/>
          </a:xfrm>
          <a:prstGeom prst="rect">
            <a:avLst/>
          </a:prstGeom>
          <a:noFill/>
          <a:ln>
            <a:noFill/>
          </a:ln>
        </p:spPr>
      </p:pic>
      <p:pic>
        <p:nvPicPr>
          <p:cNvPr id="136" name="Google Shape;136;p5"/>
          <p:cNvPicPr preferRelativeResize="0"/>
          <p:nvPr/>
        </p:nvPicPr>
        <p:blipFill rotWithShape="1">
          <a:blip r:embed="rId5">
            <a:alphaModFix/>
          </a:blip>
          <a:srcRect b="0" l="0" r="0" t="0"/>
          <a:stretch/>
        </p:blipFill>
        <p:spPr>
          <a:xfrm>
            <a:off x="2413420" y="4247774"/>
            <a:ext cx="1260451" cy="1191650"/>
          </a:xfrm>
          <a:prstGeom prst="rect">
            <a:avLst/>
          </a:prstGeom>
          <a:noFill/>
          <a:ln>
            <a:noFill/>
          </a:ln>
        </p:spPr>
      </p:pic>
      <p:pic>
        <p:nvPicPr>
          <p:cNvPr id="137" name="Google Shape;137;p5"/>
          <p:cNvPicPr preferRelativeResize="0"/>
          <p:nvPr/>
        </p:nvPicPr>
        <p:blipFill rotWithShape="1">
          <a:blip r:embed="rId6">
            <a:alphaModFix/>
          </a:blip>
          <a:srcRect b="0" l="0" r="0" t="0"/>
          <a:stretch/>
        </p:blipFill>
        <p:spPr>
          <a:xfrm>
            <a:off x="8621547" y="3959499"/>
            <a:ext cx="1632324" cy="16323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6"/>
          <p:cNvSpPr txBox="1"/>
          <p:nvPr/>
        </p:nvSpPr>
        <p:spPr>
          <a:xfrm>
            <a:off x="950054" y="605917"/>
            <a:ext cx="5547843" cy="107303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2600"/>
              <a:buFont typeface="Work Sans Light"/>
              <a:buNone/>
            </a:pPr>
            <a:r>
              <a:rPr b="0" i="0" lang="es-MX" sz="2600" u="none" cap="none" strike="noStrike">
                <a:solidFill>
                  <a:srgbClr val="38AA00"/>
                </a:solidFill>
                <a:latin typeface="Work Sans Light"/>
                <a:ea typeface="Work Sans Light"/>
                <a:cs typeface="Work Sans Light"/>
                <a:sym typeface="Work Sans Light"/>
              </a:rPr>
              <a:t>Planteamiento del Problema</a:t>
            </a:r>
            <a:endParaRPr b="0" i="0" sz="1800" u="none" cap="none" strike="noStrike">
              <a:solidFill>
                <a:schemeClr val="dk1"/>
              </a:solidFill>
              <a:latin typeface="Calibri"/>
              <a:ea typeface="Calibri"/>
              <a:cs typeface="Calibri"/>
              <a:sym typeface="Calibri"/>
            </a:endParaRPr>
          </a:p>
        </p:txBody>
      </p:sp>
      <p:cxnSp>
        <p:nvCxnSpPr>
          <p:cNvPr id="143" name="Google Shape;143;p6"/>
          <p:cNvCxnSpPr>
            <a:stCxn id="142" idx="1"/>
          </p:cNvCxnSpPr>
          <p:nvPr/>
        </p:nvCxnSpPr>
        <p:spPr>
          <a:xfrm flipH="1" rot="10800000">
            <a:off x="950054" y="1094432"/>
            <a:ext cx="5042400" cy="48000"/>
          </a:xfrm>
          <a:prstGeom prst="straightConnector1">
            <a:avLst/>
          </a:prstGeom>
          <a:noFill/>
          <a:ln cap="flat" cmpd="sng" w="50800">
            <a:solidFill>
              <a:schemeClr val="accent6"/>
            </a:solidFill>
            <a:prstDash val="solid"/>
            <a:miter lim="800000"/>
            <a:headEnd len="sm" w="sm" type="none"/>
            <a:tailEnd len="sm" w="sm" type="none"/>
          </a:ln>
        </p:spPr>
      </p:cxnSp>
      <p:sp>
        <p:nvSpPr>
          <p:cNvPr id="144" name="Google Shape;144;p6"/>
          <p:cNvSpPr txBox="1"/>
          <p:nvPr/>
        </p:nvSpPr>
        <p:spPr>
          <a:xfrm>
            <a:off x="863875" y="2447775"/>
            <a:ext cx="5328900" cy="2025600"/>
          </a:xfrm>
          <a:prstGeom prst="rect">
            <a:avLst/>
          </a:prstGeom>
          <a:noFill/>
          <a:ln>
            <a:noFill/>
          </a:ln>
        </p:spPr>
        <p:txBody>
          <a:bodyPr anchorCtr="0" anchor="t" bIns="91425" lIns="91425" spcFirstLastPara="1" rIns="91425" wrap="square" tIns="91425">
            <a:spAutoFit/>
          </a:bodyPr>
          <a:lstStyle/>
          <a:p>
            <a:pPr indent="0" lvl="0" marL="0" marR="0" rtl="0" algn="just">
              <a:lnSpc>
                <a:spcPct val="107916"/>
              </a:lnSpc>
              <a:spcBef>
                <a:spcPts val="0"/>
              </a:spcBef>
              <a:spcAft>
                <a:spcPts val="800"/>
              </a:spcAft>
              <a:buClr>
                <a:schemeClr val="dk1"/>
              </a:buClr>
              <a:buSzPts val="1100"/>
              <a:buFont typeface="Arial"/>
              <a:buNone/>
            </a:pPr>
            <a:r>
              <a:rPr b="0" i="0" lang="es-MX" sz="1600" u="none" cap="none" strike="noStrike">
                <a:solidFill>
                  <a:schemeClr val="dk1"/>
                </a:solidFill>
                <a:latin typeface="Arial"/>
                <a:ea typeface="Arial"/>
                <a:cs typeface="Arial"/>
                <a:sym typeface="Arial"/>
              </a:rPr>
              <a:t>El conjunto residencial Puerta de la Alameda tiene un método que ralentiza la forma en cómo lleva el registro de visitantes, la forma en cómo agendar las zonas comunes, la selección de parqueaderos para propietarios es injusta, la comunicación de propietarios con la administración es complicada y el procedimiento de pago no es cómodo para los propietarios.</a:t>
            </a:r>
            <a:endParaRPr b="0" i="0" sz="2400" u="none" cap="none" strike="noStrike">
              <a:solidFill>
                <a:schemeClr val="dk1"/>
              </a:solidFill>
              <a:latin typeface="Arial"/>
              <a:ea typeface="Arial"/>
              <a:cs typeface="Arial"/>
              <a:sym typeface="Arial"/>
            </a:endParaRPr>
          </a:p>
        </p:txBody>
      </p:sp>
      <p:pic>
        <p:nvPicPr>
          <p:cNvPr id="145" name="Google Shape;145;p6"/>
          <p:cNvPicPr preferRelativeResize="0"/>
          <p:nvPr/>
        </p:nvPicPr>
        <p:blipFill rotWithShape="1">
          <a:blip r:embed="rId3">
            <a:alphaModFix/>
          </a:blip>
          <a:srcRect b="1278" l="-1500" r="1499" t="-1280"/>
          <a:stretch/>
        </p:blipFill>
        <p:spPr>
          <a:xfrm>
            <a:off x="6830425" y="1292125"/>
            <a:ext cx="4572000" cy="4572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7"/>
          <p:cNvSpPr txBox="1"/>
          <p:nvPr/>
        </p:nvSpPr>
        <p:spPr>
          <a:xfrm>
            <a:off x="950054" y="605917"/>
            <a:ext cx="5547843" cy="107303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2600"/>
              <a:buFont typeface="Work Sans Light"/>
              <a:buNone/>
            </a:pPr>
            <a:r>
              <a:rPr b="0" i="0" lang="es-MX" sz="2600" u="none" cap="none" strike="noStrike">
                <a:solidFill>
                  <a:srgbClr val="38AA00"/>
                </a:solidFill>
                <a:latin typeface="Work Sans Light"/>
                <a:ea typeface="Work Sans Light"/>
                <a:cs typeface="Work Sans Light"/>
                <a:sym typeface="Work Sans Light"/>
              </a:rPr>
              <a:t>Pregunta  Problema</a:t>
            </a:r>
            <a:endParaRPr b="0" i="0" sz="1800" u="none" cap="none" strike="noStrike">
              <a:solidFill>
                <a:schemeClr val="dk1"/>
              </a:solidFill>
              <a:latin typeface="Calibri"/>
              <a:ea typeface="Calibri"/>
              <a:cs typeface="Calibri"/>
              <a:sym typeface="Calibri"/>
            </a:endParaRPr>
          </a:p>
        </p:txBody>
      </p:sp>
      <p:cxnSp>
        <p:nvCxnSpPr>
          <p:cNvPr id="151" name="Google Shape;151;p7"/>
          <p:cNvCxnSpPr>
            <a:stCxn id="150" idx="1"/>
          </p:cNvCxnSpPr>
          <p:nvPr/>
        </p:nvCxnSpPr>
        <p:spPr>
          <a:xfrm flipH="1" rot="10800000">
            <a:off x="950054" y="1094432"/>
            <a:ext cx="5042400" cy="48000"/>
          </a:xfrm>
          <a:prstGeom prst="straightConnector1">
            <a:avLst/>
          </a:prstGeom>
          <a:noFill/>
          <a:ln cap="flat" cmpd="sng" w="50800">
            <a:solidFill>
              <a:schemeClr val="accent6"/>
            </a:solidFill>
            <a:prstDash val="solid"/>
            <a:miter lim="800000"/>
            <a:headEnd len="sm" w="sm" type="none"/>
            <a:tailEnd len="sm" w="sm" type="none"/>
          </a:ln>
        </p:spPr>
      </p:cxnSp>
      <p:sp>
        <p:nvSpPr>
          <p:cNvPr id="152" name="Google Shape;152;p7"/>
          <p:cNvSpPr txBox="1"/>
          <p:nvPr/>
        </p:nvSpPr>
        <p:spPr>
          <a:xfrm>
            <a:off x="5898400" y="3099275"/>
            <a:ext cx="5547900" cy="1358700"/>
          </a:xfrm>
          <a:prstGeom prst="rect">
            <a:avLst/>
          </a:prstGeom>
          <a:noFill/>
          <a:ln>
            <a:noFill/>
          </a:ln>
        </p:spPr>
        <p:txBody>
          <a:bodyPr anchorCtr="0" anchor="t" bIns="91425" lIns="91425" spcFirstLastPara="1" rIns="91425" wrap="square" tIns="91425">
            <a:spAutoFit/>
          </a:bodyPr>
          <a:lstStyle/>
          <a:p>
            <a:pPr indent="0" lvl="0" marL="0" marR="0" rtl="0" algn="just">
              <a:lnSpc>
                <a:spcPct val="107916"/>
              </a:lnSpc>
              <a:spcBef>
                <a:spcPts val="0"/>
              </a:spcBef>
              <a:spcAft>
                <a:spcPts val="800"/>
              </a:spcAft>
              <a:buClr>
                <a:srgbClr val="000000"/>
              </a:buClr>
              <a:buSzPts val="1800"/>
              <a:buFont typeface="Arial"/>
              <a:buNone/>
            </a:pPr>
            <a:r>
              <a:rPr b="0" i="0" lang="es-MX" sz="1800" u="none" cap="none" strike="noStrike">
                <a:solidFill>
                  <a:schemeClr val="dk1"/>
                </a:solidFill>
                <a:latin typeface="Arial"/>
                <a:ea typeface="Arial"/>
                <a:cs typeface="Arial"/>
                <a:sym typeface="Arial"/>
              </a:rPr>
              <a:t>¿Cómo mejorar los procesos administrativos del conjunto residencial Puerta de la Alameda a través de la implementación de un sistema de gestión de propiedad horizontal? </a:t>
            </a:r>
            <a:endParaRPr b="0" i="0" sz="1800" u="none" cap="none" strike="noStrike">
              <a:solidFill>
                <a:srgbClr val="000000"/>
              </a:solidFill>
              <a:latin typeface="Arial"/>
              <a:ea typeface="Arial"/>
              <a:cs typeface="Arial"/>
              <a:sym typeface="Arial"/>
            </a:endParaRPr>
          </a:p>
        </p:txBody>
      </p:sp>
      <p:pic>
        <p:nvPicPr>
          <p:cNvPr id="153" name="Google Shape;153;p7"/>
          <p:cNvPicPr preferRelativeResize="0"/>
          <p:nvPr/>
        </p:nvPicPr>
        <p:blipFill rotWithShape="1">
          <a:blip r:embed="rId3">
            <a:alphaModFix/>
          </a:blip>
          <a:srcRect b="0" l="0" r="0" t="0"/>
          <a:stretch/>
        </p:blipFill>
        <p:spPr>
          <a:xfrm>
            <a:off x="651875" y="1540972"/>
            <a:ext cx="4874253" cy="4874253"/>
          </a:xfrm>
          <a:prstGeom prst="rect">
            <a:avLst/>
          </a:prstGeom>
          <a:noFill/>
          <a:ln>
            <a:noFill/>
          </a:ln>
        </p:spPr>
      </p:pic>
      <p:sp>
        <p:nvSpPr>
          <p:cNvPr id="154" name="Google Shape;154;p7"/>
          <p:cNvSpPr txBox="1"/>
          <p:nvPr/>
        </p:nvSpPr>
        <p:spPr>
          <a:xfrm flipH="1">
            <a:off x="10376925" y="6401425"/>
            <a:ext cx="1921500" cy="58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uFill>
                  <a:noFill/>
                </a:uFill>
                <a:latin typeface="Calibri"/>
                <a:ea typeface="Calibri"/>
                <a:cs typeface="Calibri"/>
                <a:sym typeface="Calibri"/>
                <a:hlinkClick r:id="rId4">
                  <a:extLst>
                    <a:ext uri="{A12FA001-AC4F-418D-AE19-62706E023703}">
                      <ahyp:hlinkClr val="tx"/>
                    </a:ext>
                  </a:extLst>
                </a:hlinkClick>
              </a:rPr>
              <a:t>Ver documento</a:t>
            </a:r>
            <a:r>
              <a:rPr b="0" i="0" lang="es-MX" sz="1400" u="none" cap="none" strike="noStrike">
                <a:solidFill>
                  <a:schemeClr val="dk1"/>
                </a:solidFill>
                <a:latin typeface="Calibri"/>
                <a:ea typeface="Calibri"/>
                <a:cs typeface="Calibri"/>
                <a:sym typeface="Calibri"/>
              </a:rPr>
              <a:t>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8"/>
          <p:cNvSpPr txBox="1"/>
          <p:nvPr/>
        </p:nvSpPr>
        <p:spPr>
          <a:xfrm>
            <a:off x="950054" y="605917"/>
            <a:ext cx="5547843" cy="107303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2600"/>
              <a:buFont typeface="Work Sans Light"/>
              <a:buNone/>
            </a:pPr>
            <a:r>
              <a:rPr b="0" i="0" lang="es-MX" sz="2600" u="none" cap="none" strike="noStrike">
                <a:solidFill>
                  <a:srgbClr val="38AA00"/>
                </a:solidFill>
                <a:latin typeface="Work Sans Light"/>
                <a:ea typeface="Work Sans Light"/>
                <a:cs typeface="Work Sans Light"/>
                <a:sym typeface="Work Sans Light"/>
              </a:rPr>
              <a:t>Alcance </a:t>
            </a:r>
            <a:endParaRPr b="0" i="0" sz="1800" u="none" cap="none" strike="noStrike">
              <a:solidFill>
                <a:schemeClr val="dk1"/>
              </a:solidFill>
              <a:latin typeface="Calibri"/>
              <a:ea typeface="Calibri"/>
              <a:cs typeface="Calibri"/>
              <a:sym typeface="Calibri"/>
            </a:endParaRPr>
          </a:p>
        </p:txBody>
      </p:sp>
      <p:cxnSp>
        <p:nvCxnSpPr>
          <p:cNvPr id="160" name="Google Shape;160;p8"/>
          <p:cNvCxnSpPr>
            <a:stCxn id="159" idx="1"/>
          </p:cNvCxnSpPr>
          <p:nvPr/>
        </p:nvCxnSpPr>
        <p:spPr>
          <a:xfrm flipH="1" rot="10800000">
            <a:off x="950054" y="1094432"/>
            <a:ext cx="5042400" cy="48000"/>
          </a:xfrm>
          <a:prstGeom prst="straightConnector1">
            <a:avLst/>
          </a:prstGeom>
          <a:noFill/>
          <a:ln cap="flat" cmpd="sng" w="50800">
            <a:solidFill>
              <a:schemeClr val="accent6"/>
            </a:solidFill>
            <a:prstDash val="solid"/>
            <a:miter lim="800000"/>
            <a:headEnd len="sm" w="sm" type="none"/>
            <a:tailEnd len="sm" w="sm" type="none"/>
          </a:ln>
        </p:spPr>
      </p:cxnSp>
      <p:sp>
        <p:nvSpPr>
          <p:cNvPr id="161" name="Google Shape;161;p8"/>
          <p:cNvSpPr txBox="1"/>
          <p:nvPr/>
        </p:nvSpPr>
        <p:spPr>
          <a:xfrm>
            <a:off x="715600" y="2105675"/>
            <a:ext cx="5841000" cy="31785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1500"/>
              </a:spcBef>
              <a:spcAft>
                <a:spcPts val="0"/>
              </a:spcAft>
              <a:buClr>
                <a:schemeClr val="dk1"/>
              </a:buClr>
              <a:buSzPts val="1100"/>
              <a:buFont typeface="Arial"/>
              <a:buNone/>
            </a:pPr>
            <a:r>
              <a:rPr b="0" i="0" lang="es-MX" sz="1400" u="none" cap="none" strike="noStrike">
                <a:solidFill>
                  <a:srgbClr val="0D0D0D"/>
                </a:solidFill>
                <a:highlight>
                  <a:srgbClr val="FFFFFF"/>
                </a:highlight>
                <a:latin typeface="Roboto"/>
                <a:ea typeface="Roboto"/>
                <a:cs typeface="Roboto"/>
                <a:sym typeface="Roboto"/>
              </a:rPr>
              <a:t>El alcance de Valhalla se extiende a todos los procesos administrativos internos del conjunto residencial. Con esta plataforma, el conjunto Puerta de la Alameda podrá automatizar la mayoría de sus tareas diarias como:</a:t>
            </a:r>
            <a:br>
              <a:rPr b="0" i="0" lang="es-MX" sz="1400" u="none" cap="none" strike="noStrike">
                <a:solidFill>
                  <a:srgbClr val="0D0D0D"/>
                </a:solidFill>
                <a:highlight>
                  <a:srgbClr val="FFFFFF"/>
                </a:highlight>
                <a:latin typeface="Roboto"/>
                <a:ea typeface="Roboto"/>
                <a:cs typeface="Roboto"/>
                <a:sym typeface="Roboto"/>
              </a:rPr>
            </a:br>
            <a:endParaRPr b="0" i="0" sz="1400" u="none" cap="none" strike="noStrike">
              <a:solidFill>
                <a:srgbClr val="0D0D0D"/>
              </a:solidFill>
              <a:highlight>
                <a:srgbClr val="FFFFFF"/>
              </a:highlight>
              <a:latin typeface="Roboto"/>
              <a:ea typeface="Roboto"/>
              <a:cs typeface="Roboto"/>
              <a:sym typeface="Roboto"/>
            </a:endParaRPr>
          </a:p>
          <a:p>
            <a:pPr indent="-317500" lvl="0" marL="914400" marR="0" rtl="0" algn="just">
              <a:lnSpc>
                <a:spcPct val="100000"/>
              </a:lnSpc>
              <a:spcBef>
                <a:spcPts val="1500"/>
              </a:spcBef>
              <a:spcAft>
                <a:spcPts val="0"/>
              </a:spcAft>
              <a:buClr>
                <a:srgbClr val="0D0D0D"/>
              </a:buClr>
              <a:buSzPts val="1400"/>
              <a:buFont typeface="Roboto"/>
              <a:buChar char="●"/>
            </a:pPr>
            <a:r>
              <a:rPr b="0" i="0" lang="es-MX" sz="1400" u="none" cap="none" strike="noStrike">
                <a:solidFill>
                  <a:srgbClr val="0D0D0D"/>
                </a:solidFill>
                <a:highlight>
                  <a:srgbClr val="FFFFFF"/>
                </a:highlight>
                <a:latin typeface="Roboto"/>
                <a:ea typeface="Roboto"/>
                <a:cs typeface="Roboto"/>
                <a:sym typeface="Roboto"/>
              </a:rPr>
              <a:t>Control de acceso de visitantes</a:t>
            </a:r>
            <a:endParaRPr b="0" i="0" sz="1400" u="none" cap="none" strike="noStrike">
              <a:solidFill>
                <a:srgbClr val="0D0D0D"/>
              </a:solidFill>
              <a:highlight>
                <a:srgbClr val="FFFFFF"/>
              </a:highlight>
              <a:latin typeface="Roboto"/>
              <a:ea typeface="Roboto"/>
              <a:cs typeface="Roboto"/>
              <a:sym typeface="Roboto"/>
            </a:endParaRPr>
          </a:p>
          <a:p>
            <a:pPr indent="-317500" lvl="0" marL="914400" marR="0" rtl="0" algn="just">
              <a:lnSpc>
                <a:spcPct val="100000"/>
              </a:lnSpc>
              <a:spcBef>
                <a:spcPts val="0"/>
              </a:spcBef>
              <a:spcAft>
                <a:spcPts val="0"/>
              </a:spcAft>
              <a:buClr>
                <a:srgbClr val="0D0D0D"/>
              </a:buClr>
              <a:buSzPts val="1400"/>
              <a:buFont typeface="Roboto"/>
              <a:buChar char="●"/>
            </a:pPr>
            <a:r>
              <a:rPr b="0" i="0" lang="es-MX" sz="1400" u="none" cap="none" strike="noStrike">
                <a:solidFill>
                  <a:srgbClr val="0D0D0D"/>
                </a:solidFill>
                <a:highlight>
                  <a:srgbClr val="FFFFFF"/>
                </a:highlight>
                <a:latin typeface="Roboto"/>
                <a:ea typeface="Roboto"/>
                <a:cs typeface="Roboto"/>
                <a:sym typeface="Roboto"/>
              </a:rPr>
              <a:t>Gestión de parqueaderos</a:t>
            </a:r>
            <a:endParaRPr b="0" i="0" sz="1400" u="none" cap="none" strike="noStrike">
              <a:solidFill>
                <a:srgbClr val="0D0D0D"/>
              </a:solidFill>
              <a:highlight>
                <a:srgbClr val="FFFFFF"/>
              </a:highlight>
              <a:latin typeface="Roboto"/>
              <a:ea typeface="Roboto"/>
              <a:cs typeface="Roboto"/>
              <a:sym typeface="Roboto"/>
            </a:endParaRPr>
          </a:p>
          <a:p>
            <a:pPr indent="-317500" lvl="0" marL="914400" marR="0" rtl="0" algn="just">
              <a:lnSpc>
                <a:spcPct val="100000"/>
              </a:lnSpc>
              <a:spcBef>
                <a:spcPts val="0"/>
              </a:spcBef>
              <a:spcAft>
                <a:spcPts val="0"/>
              </a:spcAft>
              <a:buClr>
                <a:srgbClr val="0D0D0D"/>
              </a:buClr>
              <a:buSzPts val="1400"/>
              <a:buFont typeface="Roboto"/>
              <a:buChar char="●"/>
            </a:pPr>
            <a:r>
              <a:rPr b="0" i="0" lang="es-MX" sz="1400" u="none" cap="none" strike="noStrike">
                <a:solidFill>
                  <a:srgbClr val="0D0D0D"/>
                </a:solidFill>
                <a:highlight>
                  <a:srgbClr val="FFFFFF"/>
                </a:highlight>
                <a:latin typeface="Roboto"/>
                <a:ea typeface="Roboto"/>
                <a:cs typeface="Roboto"/>
                <a:sym typeface="Roboto"/>
              </a:rPr>
              <a:t>Sistema de pagos</a:t>
            </a:r>
            <a:endParaRPr b="0" i="0" sz="1400" u="none" cap="none" strike="noStrike">
              <a:solidFill>
                <a:srgbClr val="0D0D0D"/>
              </a:solidFill>
              <a:highlight>
                <a:srgbClr val="FFFFFF"/>
              </a:highlight>
              <a:latin typeface="Roboto"/>
              <a:ea typeface="Roboto"/>
              <a:cs typeface="Roboto"/>
              <a:sym typeface="Roboto"/>
            </a:endParaRPr>
          </a:p>
          <a:p>
            <a:pPr indent="-317500" lvl="0" marL="914400" marR="0" rtl="0" algn="just">
              <a:lnSpc>
                <a:spcPct val="100000"/>
              </a:lnSpc>
              <a:spcBef>
                <a:spcPts val="0"/>
              </a:spcBef>
              <a:spcAft>
                <a:spcPts val="0"/>
              </a:spcAft>
              <a:buClr>
                <a:srgbClr val="0D0D0D"/>
              </a:buClr>
              <a:buSzPts val="1400"/>
              <a:buFont typeface="Roboto"/>
              <a:buChar char="●"/>
            </a:pPr>
            <a:r>
              <a:rPr b="0" i="0" lang="es-MX" sz="1400" u="none" cap="none" strike="noStrike">
                <a:solidFill>
                  <a:srgbClr val="0D0D0D"/>
                </a:solidFill>
                <a:highlight>
                  <a:srgbClr val="FFFFFF"/>
                </a:highlight>
                <a:latin typeface="Roboto"/>
                <a:ea typeface="Roboto"/>
                <a:cs typeface="Roboto"/>
                <a:sym typeface="Roboto"/>
              </a:rPr>
              <a:t>Notificaciones y anuncios</a:t>
            </a:r>
            <a:endParaRPr b="0" i="0" sz="1400" u="none" cap="none" strike="noStrike">
              <a:solidFill>
                <a:srgbClr val="0D0D0D"/>
              </a:solidFill>
              <a:highlight>
                <a:srgbClr val="FFFFFF"/>
              </a:highlight>
              <a:latin typeface="Roboto"/>
              <a:ea typeface="Roboto"/>
              <a:cs typeface="Roboto"/>
              <a:sym typeface="Roboto"/>
            </a:endParaRPr>
          </a:p>
          <a:p>
            <a:pPr indent="-317500" lvl="0" marL="914400" marR="0" rtl="0" algn="just">
              <a:lnSpc>
                <a:spcPct val="100000"/>
              </a:lnSpc>
              <a:spcBef>
                <a:spcPts val="0"/>
              </a:spcBef>
              <a:spcAft>
                <a:spcPts val="0"/>
              </a:spcAft>
              <a:buClr>
                <a:srgbClr val="0D0D0D"/>
              </a:buClr>
              <a:buSzPts val="1400"/>
              <a:buFont typeface="Roboto"/>
              <a:buChar char="●"/>
            </a:pPr>
            <a:r>
              <a:rPr b="0" i="0" lang="es-MX" sz="1400" u="none" cap="none" strike="noStrike">
                <a:solidFill>
                  <a:srgbClr val="0D0D0D"/>
                </a:solidFill>
                <a:highlight>
                  <a:srgbClr val="FFFFFF"/>
                </a:highlight>
                <a:latin typeface="Roboto"/>
                <a:ea typeface="Roboto"/>
                <a:cs typeface="Roboto"/>
                <a:sym typeface="Roboto"/>
              </a:rPr>
              <a:t>Reserva de zonas comunes</a:t>
            </a:r>
            <a:endParaRPr b="0" i="0" sz="1400" u="none" cap="none" strike="noStrike">
              <a:solidFill>
                <a:srgbClr val="0D0D0D"/>
              </a:solidFill>
              <a:highlight>
                <a:srgbClr val="FFFFFF"/>
              </a:highlight>
              <a:latin typeface="Roboto"/>
              <a:ea typeface="Roboto"/>
              <a:cs typeface="Roboto"/>
              <a:sym typeface="Roboto"/>
            </a:endParaRPr>
          </a:p>
          <a:p>
            <a:pPr indent="-317500" lvl="0" marL="914400" marR="0" rtl="0" algn="just">
              <a:lnSpc>
                <a:spcPct val="100000"/>
              </a:lnSpc>
              <a:spcBef>
                <a:spcPts val="0"/>
              </a:spcBef>
              <a:spcAft>
                <a:spcPts val="0"/>
              </a:spcAft>
              <a:buClr>
                <a:srgbClr val="0D0D0D"/>
              </a:buClr>
              <a:buSzPts val="1400"/>
              <a:buFont typeface="Roboto"/>
              <a:buChar char="●"/>
            </a:pPr>
            <a:r>
              <a:rPr b="0" i="0" lang="es-MX" sz="1400" u="none" cap="none" strike="noStrike">
                <a:solidFill>
                  <a:srgbClr val="0D0D0D"/>
                </a:solidFill>
                <a:highlight>
                  <a:srgbClr val="FFFFFF"/>
                </a:highlight>
                <a:latin typeface="Roboto"/>
                <a:ea typeface="Roboto"/>
                <a:cs typeface="Roboto"/>
                <a:sym typeface="Roboto"/>
              </a:rPr>
              <a:t>Registro de quejas y reclamos (PQRS)</a:t>
            </a:r>
            <a:endParaRPr b="0" i="0" sz="1400" u="none" cap="none" strike="noStrike">
              <a:solidFill>
                <a:srgbClr val="0D0D0D"/>
              </a:solidFill>
              <a:highlight>
                <a:srgbClr val="FFFFFF"/>
              </a:highlight>
              <a:latin typeface="Roboto"/>
              <a:ea typeface="Roboto"/>
              <a:cs typeface="Roboto"/>
              <a:sym typeface="Roboto"/>
            </a:endParaRPr>
          </a:p>
          <a:p>
            <a:pPr indent="-317500" lvl="0" marL="914400" marR="0" rtl="0" algn="just">
              <a:lnSpc>
                <a:spcPct val="100000"/>
              </a:lnSpc>
              <a:spcBef>
                <a:spcPts val="0"/>
              </a:spcBef>
              <a:spcAft>
                <a:spcPts val="0"/>
              </a:spcAft>
              <a:buClr>
                <a:srgbClr val="0D0D0D"/>
              </a:buClr>
              <a:buSzPts val="1400"/>
              <a:buFont typeface="Roboto"/>
              <a:buChar char="●"/>
            </a:pPr>
            <a:r>
              <a:rPr b="0" i="0" lang="es-MX" sz="1400" u="none" cap="none" strike="noStrike">
                <a:solidFill>
                  <a:srgbClr val="0D0D0D"/>
                </a:solidFill>
                <a:highlight>
                  <a:srgbClr val="FFFFFF"/>
                </a:highlight>
                <a:latin typeface="Roboto"/>
                <a:ea typeface="Roboto"/>
                <a:cs typeface="Roboto"/>
                <a:sym typeface="Roboto"/>
              </a:rPr>
              <a:t>Gestión de mascotas</a:t>
            </a:r>
            <a:endParaRPr b="0" i="0" sz="1400" u="none" cap="none" strike="noStrike">
              <a:solidFill>
                <a:srgbClr val="0D0D0D"/>
              </a:solidFill>
              <a:highlight>
                <a:srgbClr val="FFFFFF"/>
              </a:highlight>
              <a:latin typeface="Roboto"/>
              <a:ea typeface="Roboto"/>
              <a:cs typeface="Roboto"/>
              <a:sym typeface="Roboto"/>
            </a:endParaRPr>
          </a:p>
          <a:p>
            <a:pPr indent="-317500" lvl="0" marL="914400" marR="0" rtl="0" algn="just">
              <a:lnSpc>
                <a:spcPct val="100000"/>
              </a:lnSpc>
              <a:spcBef>
                <a:spcPts val="0"/>
              </a:spcBef>
              <a:spcAft>
                <a:spcPts val="0"/>
              </a:spcAft>
              <a:buClr>
                <a:srgbClr val="0D0D0D"/>
              </a:buClr>
              <a:buSzPts val="1400"/>
              <a:buFont typeface="Roboto"/>
              <a:buChar char="●"/>
            </a:pPr>
            <a:r>
              <a:rPr b="0" i="0" lang="es-MX" sz="1400" u="none" cap="none" strike="noStrike">
                <a:solidFill>
                  <a:srgbClr val="0D0D0D"/>
                </a:solidFill>
                <a:highlight>
                  <a:srgbClr val="FFFFFF"/>
                </a:highlight>
                <a:latin typeface="Roboto"/>
                <a:ea typeface="Roboto"/>
                <a:cs typeface="Roboto"/>
                <a:sym typeface="Roboto"/>
              </a:rPr>
              <a:t>Administración y seguimiento de residentes</a:t>
            </a:r>
            <a:endParaRPr b="0" i="0" sz="1400" u="none" cap="none" strike="noStrike">
              <a:solidFill>
                <a:srgbClr val="0D0D0D"/>
              </a:solidFill>
              <a:highlight>
                <a:srgbClr val="FFFFFF"/>
              </a:highlight>
              <a:latin typeface="Roboto"/>
              <a:ea typeface="Roboto"/>
              <a:cs typeface="Roboto"/>
              <a:sym typeface="Roboto"/>
            </a:endParaRPr>
          </a:p>
        </p:txBody>
      </p:sp>
      <p:sp>
        <p:nvSpPr>
          <p:cNvPr id="162" name="Google Shape;162;p8"/>
          <p:cNvSpPr txBox="1"/>
          <p:nvPr/>
        </p:nvSpPr>
        <p:spPr>
          <a:xfrm flipH="1">
            <a:off x="10376925" y="6401425"/>
            <a:ext cx="1921500" cy="58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uFill>
                  <a:noFill/>
                </a:uFill>
                <a:latin typeface="Calibri"/>
                <a:ea typeface="Calibri"/>
                <a:cs typeface="Calibri"/>
                <a:sym typeface="Calibri"/>
                <a:hlinkClick r:id="rId3">
                  <a:extLst>
                    <a:ext uri="{A12FA001-AC4F-418D-AE19-62706E023703}">
                      <ahyp:hlinkClr val="tx"/>
                    </a:ext>
                  </a:extLst>
                </a:hlinkClick>
              </a:rPr>
              <a:t>Ver documento</a:t>
            </a:r>
            <a:r>
              <a:rPr b="0" i="0" lang="es-MX" sz="1400" u="none" cap="none" strike="noStrike">
                <a:solidFill>
                  <a:schemeClr val="dk1"/>
                </a:solidFill>
                <a:latin typeface="Calibri"/>
                <a:ea typeface="Calibri"/>
                <a:cs typeface="Calibri"/>
                <a:sym typeface="Calibri"/>
              </a:rPr>
              <a:t> </a:t>
            </a:r>
            <a:endParaRPr b="0" i="0" sz="1400" u="none" cap="none" strike="noStrike">
              <a:solidFill>
                <a:schemeClr val="dk1"/>
              </a:solidFill>
              <a:latin typeface="Calibri"/>
              <a:ea typeface="Calibri"/>
              <a:cs typeface="Calibri"/>
              <a:sym typeface="Calibri"/>
            </a:endParaRPr>
          </a:p>
        </p:txBody>
      </p:sp>
      <p:pic>
        <p:nvPicPr>
          <p:cNvPr id="163" name="Google Shape;163;p8"/>
          <p:cNvPicPr preferRelativeResize="0"/>
          <p:nvPr/>
        </p:nvPicPr>
        <p:blipFill rotWithShape="1">
          <a:blip r:embed="rId4">
            <a:alphaModFix/>
          </a:blip>
          <a:srcRect b="0" l="0" r="0" t="0"/>
          <a:stretch/>
        </p:blipFill>
        <p:spPr>
          <a:xfrm>
            <a:off x="6844250" y="1969425"/>
            <a:ext cx="4899000" cy="3266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1bce7702bb_0_25"/>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Control de versiones</a:t>
            </a:r>
            <a:endParaRPr/>
          </a:p>
        </p:txBody>
      </p:sp>
      <p:sp>
        <p:nvSpPr>
          <p:cNvPr id="169" name="Google Shape;169;g31bce7702bb_0_25"/>
          <p:cNvSpPr txBox="1"/>
          <p:nvPr/>
        </p:nvSpPr>
        <p:spPr>
          <a:xfrm>
            <a:off x="242725" y="5466800"/>
            <a:ext cx="225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MX" sz="1400" u="sng" cap="none" strike="noStrike">
                <a:solidFill>
                  <a:schemeClr val="hlink"/>
                </a:solidFill>
                <a:latin typeface="Calibri"/>
                <a:ea typeface="Calibri"/>
                <a:cs typeface="Calibri"/>
                <a:sym typeface="Calibri"/>
                <a:hlinkClick r:id="rId3"/>
              </a:rPr>
              <a:t>Github</a:t>
            </a:r>
            <a:endParaRPr b="0" i="0" sz="1400" u="none" cap="none" strike="noStrike">
              <a:solidFill>
                <a:schemeClr val="dk1"/>
              </a:solidFill>
              <a:latin typeface="Calibri"/>
              <a:ea typeface="Calibri"/>
              <a:cs typeface="Calibri"/>
              <a:sym typeface="Calibri"/>
            </a:endParaRPr>
          </a:p>
        </p:txBody>
      </p:sp>
      <p:sp>
        <p:nvSpPr>
          <p:cNvPr id="170" name="Google Shape;170;g31bce7702bb_0_25"/>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g31bce7702bb_0_25"/>
          <p:cNvSpPr txBox="1"/>
          <p:nvPr/>
        </p:nvSpPr>
        <p:spPr>
          <a:xfrm>
            <a:off x="6066225" y="5398225"/>
            <a:ext cx="225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MX" sz="1400" u="sng" cap="none" strike="noStrike">
                <a:solidFill>
                  <a:schemeClr val="hlink"/>
                </a:solidFill>
                <a:latin typeface="Calibri"/>
                <a:ea typeface="Calibri"/>
                <a:cs typeface="Calibri"/>
                <a:sym typeface="Calibri"/>
                <a:hlinkClick r:id="rId4"/>
              </a:rPr>
              <a:t>Github</a:t>
            </a:r>
            <a:endParaRPr b="0" i="0" sz="1400" u="none" cap="none" strike="noStrike">
              <a:solidFill>
                <a:schemeClr val="dk1"/>
              </a:solidFill>
              <a:latin typeface="Calibri"/>
              <a:ea typeface="Calibri"/>
              <a:cs typeface="Calibri"/>
              <a:sym typeface="Calibri"/>
            </a:endParaRPr>
          </a:p>
        </p:txBody>
      </p:sp>
      <p:sp>
        <p:nvSpPr>
          <p:cNvPr id="172" name="Google Shape;172;g31bce7702bb_0_25"/>
          <p:cNvSpPr txBox="1"/>
          <p:nvPr/>
        </p:nvSpPr>
        <p:spPr>
          <a:xfrm>
            <a:off x="154575" y="1781775"/>
            <a:ext cx="28041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s-MX" sz="1700">
                <a:solidFill>
                  <a:schemeClr val="dk1"/>
                </a:solidFill>
                <a:latin typeface="Calibri"/>
                <a:ea typeface="Calibri"/>
                <a:cs typeface="Calibri"/>
                <a:sym typeface="Calibri"/>
              </a:rPr>
              <a:t>Versiones de backend:</a:t>
            </a:r>
            <a:endParaRPr b="0" i="0" sz="1700" u="none" cap="none" strike="noStrike">
              <a:solidFill>
                <a:schemeClr val="dk1"/>
              </a:solidFill>
              <a:latin typeface="Calibri"/>
              <a:ea typeface="Calibri"/>
              <a:cs typeface="Calibri"/>
              <a:sym typeface="Calibri"/>
            </a:endParaRPr>
          </a:p>
        </p:txBody>
      </p:sp>
      <p:sp>
        <p:nvSpPr>
          <p:cNvPr id="173" name="Google Shape;173;g31bce7702bb_0_25"/>
          <p:cNvSpPr txBox="1"/>
          <p:nvPr/>
        </p:nvSpPr>
        <p:spPr>
          <a:xfrm>
            <a:off x="6066225" y="1781775"/>
            <a:ext cx="28041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s-MX" sz="1700">
                <a:solidFill>
                  <a:schemeClr val="dk1"/>
                </a:solidFill>
                <a:latin typeface="Calibri"/>
                <a:ea typeface="Calibri"/>
                <a:cs typeface="Calibri"/>
                <a:sym typeface="Calibri"/>
              </a:rPr>
              <a:t>Versiones de frontend:</a:t>
            </a:r>
            <a:endParaRPr b="0" i="0" sz="1700" u="none" cap="none" strike="noStrike">
              <a:solidFill>
                <a:schemeClr val="dk1"/>
              </a:solidFill>
              <a:latin typeface="Calibri"/>
              <a:ea typeface="Calibri"/>
              <a:cs typeface="Calibri"/>
              <a:sym typeface="Calibri"/>
            </a:endParaRPr>
          </a:p>
        </p:txBody>
      </p:sp>
      <p:pic>
        <p:nvPicPr>
          <p:cNvPr id="174" name="Google Shape;174;g31bce7702bb_0_25"/>
          <p:cNvPicPr preferRelativeResize="0"/>
          <p:nvPr/>
        </p:nvPicPr>
        <p:blipFill>
          <a:blip r:embed="rId5">
            <a:alphaModFix/>
          </a:blip>
          <a:stretch>
            <a:fillRect/>
          </a:stretch>
        </p:blipFill>
        <p:spPr>
          <a:xfrm>
            <a:off x="152400" y="2380575"/>
            <a:ext cx="5126968" cy="2933825"/>
          </a:xfrm>
          <a:prstGeom prst="rect">
            <a:avLst/>
          </a:prstGeom>
          <a:noFill/>
          <a:ln>
            <a:noFill/>
          </a:ln>
        </p:spPr>
      </p:pic>
      <p:pic>
        <p:nvPicPr>
          <p:cNvPr id="175" name="Google Shape;175;g31bce7702bb_0_25"/>
          <p:cNvPicPr preferRelativeResize="0"/>
          <p:nvPr/>
        </p:nvPicPr>
        <p:blipFill>
          <a:blip r:embed="rId6">
            <a:alphaModFix/>
          </a:blip>
          <a:stretch>
            <a:fillRect/>
          </a:stretch>
        </p:blipFill>
        <p:spPr>
          <a:xfrm>
            <a:off x="6169843" y="2380575"/>
            <a:ext cx="5335953" cy="2865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62f4424a5a_0_14"/>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Base de datos con MONGODB</a:t>
            </a:r>
            <a:endParaRPr/>
          </a:p>
        </p:txBody>
      </p:sp>
      <p:sp>
        <p:nvSpPr>
          <p:cNvPr id="181" name="Google Shape;181;g362f4424a5a_0_14"/>
          <p:cNvSpPr txBox="1"/>
          <p:nvPr/>
        </p:nvSpPr>
        <p:spPr>
          <a:xfrm>
            <a:off x="242725" y="5466800"/>
            <a:ext cx="225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82" name="Google Shape;182;g362f4424a5a_0_14"/>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g362f4424a5a_0_14"/>
          <p:cNvSpPr txBox="1"/>
          <p:nvPr/>
        </p:nvSpPr>
        <p:spPr>
          <a:xfrm>
            <a:off x="6066225" y="5398225"/>
            <a:ext cx="225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MX" sz="1400" u="sng" cap="none" strike="noStrike">
                <a:solidFill>
                  <a:schemeClr val="hlink"/>
                </a:solidFill>
                <a:latin typeface="Calibri"/>
                <a:ea typeface="Calibri"/>
                <a:cs typeface="Calibri"/>
                <a:sym typeface="Calibri"/>
                <a:hlinkClick r:id="rId3"/>
              </a:rPr>
              <a:t>Github</a:t>
            </a:r>
            <a:endParaRPr b="0" i="0" sz="1400" u="none" cap="none" strike="noStrike">
              <a:solidFill>
                <a:schemeClr val="dk1"/>
              </a:solidFill>
              <a:latin typeface="Calibri"/>
              <a:ea typeface="Calibri"/>
              <a:cs typeface="Calibri"/>
              <a:sym typeface="Calibri"/>
            </a:endParaRPr>
          </a:p>
        </p:txBody>
      </p:sp>
      <p:sp>
        <p:nvSpPr>
          <p:cNvPr id="184" name="Google Shape;184;g362f4424a5a_0_14"/>
          <p:cNvSpPr txBox="1"/>
          <p:nvPr/>
        </p:nvSpPr>
        <p:spPr>
          <a:xfrm>
            <a:off x="154575" y="1781775"/>
            <a:ext cx="28041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chemeClr val="dk1"/>
              </a:solidFill>
              <a:latin typeface="Calibri"/>
              <a:ea typeface="Calibri"/>
              <a:cs typeface="Calibri"/>
              <a:sym typeface="Calibri"/>
            </a:endParaRPr>
          </a:p>
        </p:txBody>
      </p:sp>
      <p:pic>
        <p:nvPicPr>
          <p:cNvPr id="185" name="Google Shape;185;g362f4424a5a_0_14"/>
          <p:cNvPicPr preferRelativeResize="0"/>
          <p:nvPr/>
        </p:nvPicPr>
        <p:blipFill>
          <a:blip r:embed="rId4">
            <a:alphaModFix/>
          </a:blip>
          <a:stretch>
            <a:fillRect/>
          </a:stretch>
        </p:blipFill>
        <p:spPr>
          <a:xfrm>
            <a:off x="2711100" y="1985200"/>
            <a:ext cx="6769791" cy="39259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62f4424a5a_0_23"/>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Base de datos MYSQL</a:t>
            </a:r>
            <a:endParaRPr/>
          </a:p>
        </p:txBody>
      </p:sp>
      <p:sp>
        <p:nvSpPr>
          <p:cNvPr id="191" name="Google Shape;191;g362f4424a5a_0_23"/>
          <p:cNvSpPr txBox="1"/>
          <p:nvPr/>
        </p:nvSpPr>
        <p:spPr>
          <a:xfrm>
            <a:off x="242725" y="5466800"/>
            <a:ext cx="225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92" name="Google Shape;192;g362f4424a5a_0_2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g362f4424a5a_0_23"/>
          <p:cNvSpPr txBox="1"/>
          <p:nvPr/>
        </p:nvSpPr>
        <p:spPr>
          <a:xfrm>
            <a:off x="5871475" y="5867000"/>
            <a:ext cx="225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s-MX" u="sng">
                <a:solidFill>
                  <a:schemeClr val="hlink"/>
                </a:solidFill>
                <a:latin typeface="Calibri"/>
                <a:ea typeface="Calibri"/>
                <a:cs typeface="Calibri"/>
                <a:sym typeface="Calibri"/>
                <a:hlinkClick r:id="rId3"/>
              </a:rPr>
              <a:t>modelo</a:t>
            </a:r>
            <a:endParaRPr b="0" i="0" sz="1400" u="none" cap="none" strike="noStrike">
              <a:solidFill>
                <a:schemeClr val="dk1"/>
              </a:solidFill>
              <a:latin typeface="Calibri"/>
              <a:ea typeface="Calibri"/>
              <a:cs typeface="Calibri"/>
              <a:sym typeface="Calibri"/>
            </a:endParaRPr>
          </a:p>
        </p:txBody>
      </p:sp>
      <p:sp>
        <p:nvSpPr>
          <p:cNvPr id="194" name="Google Shape;194;g362f4424a5a_0_23"/>
          <p:cNvSpPr txBox="1"/>
          <p:nvPr/>
        </p:nvSpPr>
        <p:spPr>
          <a:xfrm>
            <a:off x="154575" y="1781775"/>
            <a:ext cx="28041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chemeClr val="dk1"/>
              </a:solidFill>
              <a:latin typeface="Calibri"/>
              <a:ea typeface="Calibri"/>
              <a:cs typeface="Calibri"/>
              <a:sym typeface="Calibri"/>
            </a:endParaRPr>
          </a:p>
        </p:txBody>
      </p:sp>
      <p:pic>
        <p:nvPicPr>
          <p:cNvPr id="195" name="Google Shape;195;g362f4424a5a_0_23"/>
          <p:cNvPicPr preferRelativeResize="0"/>
          <p:nvPr/>
        </p:nvPicPr>
        <p:blipFill>
          <a:blip r:embed="rId4">
            <a:alphaModFix/>
          </a:blip>
          <a:stretch>
            <a:fillRect/>
          </a:stretch>
        </p:blipFill>
        <p:spPr>
          <a:xfrm>
            <a:off x="3497288" y="1781775"/>
            <a:ext cx="5197414" cy="392597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62f4424a5a_0_52"/>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FRONT END</a:t>
            </a:r>
            <a:endParaRPr/>
          </a:p>
        </p:txBody>
      </p:sp>
      <p:sp>
        <p:nvSpPr>
          <p:cNvPr id="201" name="Google Shape;201;g362f4424a5a_0_52"/>
          <p:cNvSpPr txBox="1"/>
          <p:nvPr/>
        </p:nvSpPr>
        <p:spPr>
          <a:xfrm>
            <a:off x="242725" y="5466800"/>
            <a:ext cx="225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02" name="Google Shape;202;g362f4424a5a_0_5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g362f4424a5a_0_52"/>
          <p:cNvSpPr txBox="1"/>
          <p:nvPr/>
        </p:nvSpPr>
        <p:spPr>
          <a:xfrm>
            <a:off x="5902225" y="6092525"/>
            <a:ext cx="225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s-MX" u="sng">
                <a:solidFill>
                  <a:schemeClr val="hlink"/>
                </a:solidFill>
                <a:latin typeface="Calibri"/>
                <a:ea typeface="Calibri"/>
                <a:cs typeface="Calibri"/>
                <a:sym typeface="Calibri"/>
                <a:hlinkClick r:id="rId3"/>
              </a:rPr>
              <a:t>FRONTEND</a:t>
            </a:r>
            <a:endParaRPr b="0" i="0" sz="1400" u="none" cap="none" strike="noStrike">
              <a:solidFill>
                <a:schemeClr val="dk1"/>
              </a:solidFill>
              <a:latin typeface="Calibri"/>
              <a:ea typeface="Calibri"/>
              <a:cs typeface="Calibri"/>
              <a:sym typeface="Calibri"/>
            </a:endParaRPr>
          </a:p>
        </p:txBody>
      </p:sp>
      <p:sp>
        <p:nvSpPr>
          <p:cNvPr id="204" name="Google Shape;204;g362f4424a5a_0_52"/>
          <p:cNvSpPr txBox="1"/>
          <p:nvPr/>
        </p:nvSpPr>
        <p:spPr>
          <a:xfrm>
            <a:off x="154575" y="1781775"/>
            <a:ext cx="28041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chemeClr val="dk1"/>
              </a:solidFill>
              <a:latin typeface="Calibri"/>
              <a:ea typeface="Calibri"/>
              <a:cs typeface="Calibri"/>
              <a:sym typeface="Calibri"/>
            </a:endParaRPr>
          </a:p>
        </p:txBody>
      </p:sp>
      <p:pic>
        <p:nvPicPr>
          <p:cNvPr id="205" name="Google Shape;205;g362f4424a5a_0_52"/>
          <p:cNvPicPr preferRelativeResize="0"/>
          <p:nvPr/>
        </p:nvPicPr>
        <p:blipFill>
          <a:blip r:embed="rId4">
            <a:alphaModFix/>
          </a:blip>
          <a:stretch>
            <a:fillRect/>
          </a:stretch>
        </p:blipFill>
        <p:spPr>
          <a:xfrm>
            <a:off x="1686175" y="1781775"/>
            <a:ext cx="8928526" cy="443536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62f4424a5a_0_33"/>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Documentación</a:t>
            </a:r>
            <a:r>
              <a:rPr lang="es-MX" sz="4000">
                <a:solidFill>
                  <a:schemeClr val="lt1"/>
                </a:solidFill>
                <a:latin typeface="Work Sans Medium"/>
                <a:ea typeface="Work Sans Medium"/>
                <a:cs typeface="Work Sans Medium"/>
                <a:sym typeface="Work Sans Medium"/>
              </a:rPr>
              <a:t> API</a:t>
            </a:r>
            <a:endParaRPr/>
          </a:p>
        </p:txBody>
      </p:sp>
      <p:sp>
        <p:nvSpPr>
          <p:cNvPr id="211" name="Google Shape;211;g362f4424a5a_0_33"/>
          <p:cNvSpPr txBox="1"/>
          <p:nvPr/>
        </p:nvSpPr>
        <p:spPr>
          <a:xfrm>
            <a:off x="242725" y="5466800"/>
            <a:ext cx="225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2" name="Google Shape;212;g362f4424a5a_0_3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g362f4424a5a_0_33"/>
          <p:cNvSpPr txBox="1"/>
          <p:nvPr/>
        </p:nvSpPr>
        <p:spPr>
          <a:xfrm>
            <a:off x="5902225" y="6092525"/>
            <a:ext cx="225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s-MX" u="sng">
                <a:solidFill>
                  <a:schemeClr val="hlink"/>
                </a:solidFill>
                <a:latin typeface="Calibri"/>
                <a:ea typeface="Calibri"/>
                <a:cs typeface="Calibri"/>
                <a:sym typeface="Calibri"/>
                <a:hlinkClick r:id="rId3"/>
              </a:rPr>
              <a:t>API</a:t>
            </a:r>
            <a:endParaRPr b="0" i="0" sz="1400" u="none" cap="none" strike="noStrike">
              <a:solidFill>
                <a:schemeClr val="dk1"/>
              </a:solidFill>
              <a:latin typeface="Calibri"/>
              <a:ea typeface="Calibri"/>
              <a:cs typeface="Calibri"/>
              <a:sym typeface="Calibri"/>
            </a:endParaRPr>
          </a:p>
        </p:txBody>
      </p:sp>
      <p:sp>
        <p:nvSpPr>
          <p:cNvPr id="214" name="Google Shape;214;g362f4424a5a_0_33"/>
          <p:cNvSpPr txBox="1"/>
          <p:nvPr/>
        </p:nvSpPr>
        <p:spPr>
          <a:xfrm>
            <a:off x="154575" y="1781775"/>
            <a:ext cx="28041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chemeClr val="dk1"/>
              </a:solidFill>
              <a:latin typeface="Calibri"/>
              <a:ea typeface="Calibri"/>
              <a:cs typeface="Calibri"/>
              <a:sym typeface="Calibri"/>
            </a:endParaRPr>
          </a:p>
        </p:txBody>
      </p:sp>
      <p:pic>
        <p:nvPicPr>
          <p:cNvPr id="215" name="Google Shape;215;g362f4424a5a_0_33"/>
          <p:cNvPicPr preferRelativeResize="0"/>
          <p:nvPr/>
        </p:nvPicPr>
        <p:blipFill>
          <a:blip r:embed="rId4">
            <a:alphaModFix/>
          </a:blip>
          <a:stretch>
            <a:fillRect/>
          </a:stretch>
        </p:blipFill>
        <p:spPr>
          <a:xfrm>
            <a:off x="3901313" y="1605525"/>
            <a:ext cx="4389370" cy="43947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descr="Imagen que contiene Interfaz de usuario gráfica&#10;&#10;Descripción generada automáticamente" id="220" name="Google Shape;220;p14"/>
          <p:cNvPicPr preferRelativeResize="0"/>
          <p:nvPr/>
        </p:nvPicPr>
        <p:blipFill rotWithShape="1">
          <a:blip r:embed="rId3">
            <a:alphaModFix/>
          </a:blip>
          <a:srcRect b="0" l="0" r="0" t="0"/>
          <a:stretch/>
        </p:blipFill>
        <p:spPr>
          <a:xfrm>
            <a:off x="0" y="0"/>
            <a:ext cx="12192000" cy="68580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2024-03-15T00:49:27Z</dcterms:created>
  <dc:creator>Carlos Andrés Herrera Mora</dc:creator>
</cp:coreProperties>
</file>