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Work Sans Medium"/>
      <p:regular r:id="rId25"/>
      <p:bold r:id="rId26"/>
      <p:italic r:id="rId27"/>
      <p:boldItalic r:id="rId28"/>
    </p:embeddedFont>
    <p:embeddedFont>
      <p:font typeface="Work Sans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+AcuxxoZv+WTixWhFaO/Q8xJe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D61BA6-F22D-49D6-86A1-3D2EFE14AB7D}">
  <a:tblStyle styleId="{ADD61BA6-F22D-49D6-86A1-3D2EFE14AB7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Medium-bold.fntdata"/><Relationship Id="rId25" Type="http://schemas.openxmlformats.org/officeDocument/2006/relationships/font" Target="fonts/WorkSansMedium-regular.fntdata"/><Relationship Id="rId28" Type="http://schemas.openxmlformats.org/officeDocument/2006/relationships/font" Target="fonts/WorkSansMedium-boldItalic.fntdata"/><Relationship Id="rId27" Type="http://schemas.openxmlformats.org/officeDocument/2006/relationships/font" Target="fonts/Work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Light-italic.fntdata"/><Relationship Id="rId30" Type="http://schemas.openxmlformats.org/officeDocument/2006/relationships/font" Target="fonts/WorkSansLight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WorkSans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4ed825787_2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7" name="Google Shape;167;g1f4ed825787_2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5f918daa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" name="Google Shape;216;g2d5f918daa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hyperlink" Target="https://docs.google.com/document/d/1aOHF1-GCL_2S4Ytl5_sHQwSBU3XX85Zm/edit?usp=sharing&amp;ouid=113851609166169504605&amp;rtpof=true&amp;sd=tru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hyperlink" Target="https://drive.google.com/file/d/1tyghdr2hEftW0LoEkNdWi-xYDnC7TZI-/view?usp=drive_lin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hyperlink" Target="https://drive.google.com/file/d/1J5JyOejaYNR4HsT-stynuUK-M56LAVao/view?usp=drive_link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forms.gle/PqJcAruYBwVD32ks9" TargetMode="External"/><Relationship Id="rId4" Type="http://schemas.openxmlformats.org/officeDocument/2006/relationships/hyperlink" Target="https://docs.google.com/document/d/1_70qaygqtUhbrDbU6s5SiBhMcEvD_4gF/edit?usp=sharing&amp;ouid=113851609166169504605&amp;rtpof=true&amp;sd=true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1Flwmae-nQW0c7K9cThxzNqigxdeGLNu/edit?usp=sharing&amp;ouid=113851609166169504605&amp;rtpof=true&amp;sd=true" TargetMode="Externa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717C_RKZ3Ua9dBEoAvNV0_kiirziW4Gy/view?usp=drive_link" TargetMode="External"/><Relationship Id="rId10" Type="http://schemas.openxmlformats.org/officeDocument/2006/relationships/hyperlink" Target="https://lun-us.icons8.com/play/UUcnVFwH6EGmbQQymd5tcg?artboard=aXZnjyHXF0at3r4NkI7JOA&amp;animation=fromright" TargetMode="External"/><Relationship Id="rId13" Type="http://schemas.openxmlformats.org/officeDocument/2006/relationships/hyperlink" Target="https://drive.google.com/file/d/1okJCojDrHxTb4LG-az7K4mQcKbJYyB2y/view?usp=drive_link" TargetMode="External"/><Relationship Id="rId12" Type="http://schemas.openxmlformats.org/officeDocument/2006/relationships/hyperlink" Target="https://drive.google.com/file/d/1Sc_qssKE1YvJjENWPRyycIg7kHAruJC_/view?usp=drive_link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15" Type="http://schemas.openxmlformats.org/officeDocument/2006/relationships/hyperlink" Target="https://drive.google.com/file/d/1RCMOEK5SrroFqc6mV5SypPTFTKv0mkGY/view?usp=drive_link" TargetMode="External"/><Relationship Id="rId14" Type="http://schemas.openxmlformats.org/officeDocument/2006/relationships/hyperlink" Target="https://drive.google.com/file/d/1WazZjr7V3L41riEM-wcycMDF8zox_-fq/view?usp=drive_link" TargetMode="External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700" y="897450"/>
            <a:ext cx="2685400" cy="268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ndow" id="97" name="Google Shape;97;p1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00000" l="-3150" r="3148" t="-100000"/>
          <a:stretch/>
        </p:blipFill>
        <p:spPr>
          <a:xfrm>
            <a:off x="300470" y="206391"/>
            <a:ext cx="11891530" cy="1480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ndow" id="98" name="Google Shape;98;p1"/>
          <p:cNvPicPr preferRelativeResize="0"/>
          <p:nvPr/>
        </p:nvPicPr>
        <p:blipFill rotWithShape="1">
          <a:blip r:embed="rId5">
            <a:alphaModFix amt="20000"/>
          </a:blip>
          <a:srcRect b="0" l="0" r="0" t="0"/>
          <a:stretch/>
        </p:blipFill>
        <p:spPr>
          <a:xfrm>
            <a:off x="1890944" y="1777984"/>
            <a:ext cx="8895425" cy="487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8004014" y="6085642"/>
            <a:ext cx="40548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236" y="1704513"/>
            <a:ext cx="3186738" cy="400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4998126" y="2968556"/>
            <a:ext cx="580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Yised Dayana Castiblanco Herrera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Dylan Santiago Herrera Espinosa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Cristian David Quevedo Duran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Formulación del Proyecto 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8182700" y="2706703"/>
            <a:ext cx="14204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6021302" y="3837708"/>
            <a:ext cx="7200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3"/>
          <p:cNvSpPr txBox="1"/>
          <p:nvPr/>
        </p:nvSpPr>
        <p:spPr>
          <a:xfrm>
            <a:off x="5909569" y="3969099"/>
            <a:ext cx="609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Tecnológica para la Gestión Educativa la cual ayudará a mejorar los procesos administrativos y educativos donde tanto padres de familia como secretaria podrán ingresar y tener la información necesaria de manera rápida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850" y="1834875"/>
            <a:ext cx="5604769" cy="469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477" y="1456884"/>
            <a:ext cx="5435536" cy="49917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4"/>
          <p:cNvCxnSpPr>
            <a:stCxn id="120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406025" y="3167825"/>
            <a:ext cx="4782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el software Edufast el cual  optimice los procesos administrativos y académicos en una institución educativa, mediante la integración de funciones de planificación y seguimiento.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5"/>
          <p:cNvCxnSpPr>
            <a:stCxn id="128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396" y="1399620"/>
            <a:ext cx="5185207" cy="441525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319650" y="1304350"/>
            <a:ext cx="5547900" cy="5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just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0" i="0" lang="es-MX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sistema para la creación y gestión de horarios la cual se adapte a las necesidades del docente y estudiantes.</a:t>
            </a:r>
            <a:endParaRPr b="0" i="0" sz="1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0" i="0" lang="es-MX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un sistema de matrículas en línea que facilite a los padres de familia   el proceso de matriculación  al colegio.</a:t>
            </a:r>
            <a:endParaRPr b="0" i="0" sz="1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0" i="0" lang="es-MX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sistema eficiente para el registro y seguimiento de faltas disciplinarias que permita a los administrativos y docentes gestionar de manera efectiva el seguimiento de estas</a:t>
            </a:r>
            <a:endParaRPr b="0" i="0" sz="1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0" i="0" lang="es-MX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un registro y monitoreo de las inasistencias de los estudiantes lo que ayuda a la intervención temprana para promover la asistencia regular. </a:t>
            </a:r>
            <a:endParaRPr b="0" i="0" sz="1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0" i="0" lang="es-MX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Automatizar la emisión de certificaciones y otros documentos académicos lo que ayuda en la disponibilidad de manera rápida  y segura.</a:t>
            </a:r>
            <a:endParaRPr b="0" i="0" sz="1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0" i="0" lang="es-MX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 la distribución de boletines y reportes de notas, permitiendo a los padres y estudiantes acceder a la información académica.  </a:t>
            </a:r>
            <a:endParaRPr b="0" i="0" sz="1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0" i="0" lang="es-MX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el software EDUFAST</a:t>
            </a:r>
            <a:r>
              <a:rPr b="0" i="0" lang="es-MX" sz="73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7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7916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t/>
            </a:r>
            <a:endParaRPr b="0" i="0" sz="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Planteamiento del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6"/>
          <p:cNvCxnSpPr>
            <a:stCxn id="136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6381" y="1535027"/>
            <a:ext cx="1695450" cy="351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756825" y="1851600"/>
            <a:ext cx="5042400" cy="4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Actualmente,muchas instituciones educativas gestionan sus procedimientos mediante sistemas tradicionales que no están completamente integrados,lo que resulta en ineficiencias operativas, pérdida de información valiosa. Esto incluye la planificación académica y el seguimiento del rendimiento estudiantil. La falta de una plataforma unificada y adaptable conlleva a una gestión la cual impacta negativamente la calidad educativa, la experiencia de los estudiantes y la capacidad de las instituciones para tomar decisiones basadas en los padres.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7"/>
          <p:cNvCxnSpPr>
            <a:stCxn id="144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2247" y="1721458"/>
            <a:ext cx="1476375" cy="3415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429550" y="3064425"/>
            <a:ext cx="5547900" cy="1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se puede mejorar el seguimiento del proceso educativo de los estudiantes, facilitar la comunicación entre los maestros, alumnos y padres, y poder gestionar de manera eficiente la información académica ?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8"/>
          <p:cNvCxnSpPr>
            <a:stCxn id="152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7199789" y="1631023"/>
            <a:ext cx="4145873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863800" y="2089550"/>
            <a:ext cx="5214900" cy="3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Desarrollar el  software Edufast el cual brindará herramientas para todo el personal de las instituciones educativas, lo que incluye profesores, padres de familia, secretarias, acudientes y coordinación.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 el software EDUFAST se podrá observar la  gestión de matrículas, de boletines y certificados, el seguimiento académico de los estudiantes, la organización de horarios y la administración de procesos académicos. Todo esto se realiza de manera eficiente, optimizando la información y la comunicación con los estudiantes.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8"/>
          <p:cNvSpPr txBox="1"/>
          <p:nvPr/>
        </p:nvSpPr>
        <p:spPr>
          <a:xfrm flipH="1">
            <a:off x="10376925" y="6401425"/>
            <a:ext cx="19215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documento</a:t>
            </a:r>
            <a:r>
              <a:rPr b="0" i="0" lang="es-MX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Mapas de Procesos </a:t>
            </a:r>
            <a:endParaRPr/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575" y="1991400"/>
            <a:ext cx="11427727" cy="401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10914350" y="6473700"/>
            <a:ext cx="19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formato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364550" y="1451325"/>
            <a:ext cx="11380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institución sin implementar el software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f4ed825787_2_176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Mapas de Procesos </a:t>
            </a:r>
            <a:endParaRPr/>
          </a:p>
        </p:txBody>
      </p:sp>
      <p:pic>
        <p:nvPicPr>
          <p:cNvPr id="170" name="Google Shape;170;g1f4ed825787_2_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875" y="2266825"/>
            <a:ext cx="10917625" cy="44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f4ed825787_2_176"/>
          <p:cNvSpPr txBox="1"/>
          <p:nvPr/>
        </p:nvSpPr>
        <p:spPr>
          <a:xfrm>
            <a:off x="10847700" y="6396300"/>
            <a:ext cx="13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formato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1f4ed825787_2_176"/>
          <p:cNvSpPr txBox="1"/>
          <p:nvPr/>
        </p:nvSpPr>
        <p:spPr>
          <a:xfrm>
            <a:off x="364550" y="1451325"/>
            <a:ext cx="11380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institución al implementar el software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Técnica de Recolección de Datos 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3771900" y="4400550"/>
            <a:ext cx="845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1409700" y="2038350"/>
            <a:ext cx="8839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 técnica usada para la recolección de datos fue realizar una encuesta la cual consta de 13 preguntas y fue respondida por 31 personas.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 </a:t>
            </a:r>
            <a:r>
              <a:rPr b="0" i="0" lang="es-MX" sz="1800" u="none" cap="none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encuesta</a:t>
            </a:r>
            <a:r>
              <a:rPr b="0" i="0" lang="es-MX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s-MX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fue una ayuda para saber si un aplicativo web de gestión educativa era viable y tener más confianza para así poder crear el software edufast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10525500" y="64612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b="0" i="0" lang="es-MX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s-MX" sz="1800" u="none" cap="none" strike="noStrike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Tabulación</a:t>
            </a:r>
            <a:r>
              <a:rPr b="0" i="0" lang="es-MX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2025" y="3456626"/>
            <a:ext cx="2862749" cy="29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8238" y="3411950"/>
            <a:ext cx="2784775" cy="308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42350" y="3609025"/>
            <a:ext cx="2712015" cy="298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Requerimientos  </a:t>
            </a:r>
            <a:endParaRPr/>
          </a:p>
        </p:txBody>
      </p:sp>
      <p:graphicFrame>
        <p:nvGraphicFramePr>
          <p:cNvPr id="189" name="Google Shape;189;p12"/>
          <p:cNvGraphicFramePr/>
          <p:nvPr/>
        </p:nvGraphicFramePr>
        <p:xfrm>
          <a:off x="222650" y="236397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{ADD61BA6-F22D-49D6-86A1-3D2EFE14AB7D}</a:tableStyleId>
              </a:tblPr>
              <a:tblGrid>
                <a:gridCol w="1723650"/>
                <a:gridCol w="4048500"/>
              </a:tblGrid>
              <a:tr h="56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Identificación del requerimiento: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RF01.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Nombre del requerimiento: 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Iniciar sesión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Características: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Inicia sesión para ingresar a sistema, es para el profesor, estudiante,padres de familia,admin y Administrativos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Descripción del requerimiento: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El sistema le permitirá dar ingreso al llenar el usuario y contraseña, cargando el sistema dependiendo su perfil </a:t>
                      </a:r>
                      <a:endParaRPr sz="1200" u="none" cap="none" strike="noStrike"/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Requerimientos NO funcionales: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s-MX" sz="1200" u="none" cap="none" strike="noStrike"/>
                        <a:t>RNF01</a:t>
                      </a:r>
                      <a:endParaRPr sz="1200" u="none" cap="none" strike="noStrike"/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s-MX" sz="1200" u="none" cap="none" strike="noStrike"/>
                        <a:t>RNF04</a:t>
                      </a:r>
                      <a:endParaRPr sz="1200" u="none" cap="none" strike="noStrike"/>
                    </a:p>
                    <a:p>
                      <a:pPr indent="-304800" lvl="0" marL="4572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s-MX" sz="1200" u="none" cap="none" strike="noStrike"/>
                        <a:t>RNF07</a:t>
                      </a:r>
                      <a:endParaRPr sz="1200" u="none" cap="none" strike="noStrike"/>
                    </a:p>
                    <a:p>
                      <a:pPr indent="-304800" lvl="0" marL="4572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s-MX" sz="1200" u="none" cap="none" strike="noStrike"/>
                        <a:t>RNF08</a:t>
                      </a:r>
                      <a:endParaRPr sz="1200" u="none" cap="none" strike="noStrike"/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12"/>
          <p:cNvSpPr txBox="1"/>
          <p:nvPr/>
        </p:nvSpPr>
        <p:spPr>
          <a:xfrm>
            <a:off x="10857250" y="6457800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documento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2" name="Google Shape;192;p12"/>
          <p:cNvGraphicFramePr/>
          <p:nvPr/>
        </p:nvGraphicFramePr>
        <p:xfrm>
          <a:off x="6429050" y="243440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{ADD61BA6-F22D-49D6-86A1-3D2EFE14AB7D}</a:tableStyleId>
              </a:tblPr>
              <a:tblGrid>
                <a:gridCol w="1238875"/>
                <a:gridCol w="4250050"/>
              </a:tblGrid>
              <a:tr h="92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/>
                        <a:t>Identificación del requerimiento: 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/>
                        <a:t>RNF01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</a:tr>
              <a:tr h="72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/>
                        <a:t>Nombre del Requerimiento: 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/>
                        <a:t>Interfaz del sistema.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</a:tr>
              <a:tr h="72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/>
                        <a:t>Características: 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/>
                        <a:t>El sistema presentará una interfaz de usuario sencilla para que sea de fácil manejo a los usuarios del sistema.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</a:tr>
              <a:tr h="72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/>
                        <a:t>Descripción del requerimiento:</a:t>
                      </a:r>
                      <a:r>
                        <a:rPr b="1" i="1" lang="es-MX" sz="1000" u="none" cap="none" strike="noStrike"/>
                        <a:t> 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/>
                        <a:t>El sistema debe tener una interfaz de uso intuitiva y sencilla.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</a:tr>
              <a:tr h="7216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MX" sz="1000" u="none" cap="none" strike="noStrike"/>
                        <a:t>Prioridad del requerimiento:     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MX" sz="1000" u="none" cap="none" strike="noStrike"/>
                        <a:t>Alta	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 hMerge="1"/>
              </a:tr>
            </a:tbl>
          </a:graphicData>
        </a:graphic>
      </p:graphicFrame>
      <p:sp>
        <p:nvSpPr>
          <p:cNvPr id="193" name="Google Shape;193;p12"/>
          <p:cNvSpPr txBox="1"/>
          <p:nvPr/>
        </p:nvSpPr>
        <p:spPr>
          <a:xfrm>
            <a:off x="443400" y="1753925"/>
            <a:ext cx="460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funcionales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6429050" y="1753925"/>
            <a:ext cx="58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no funcionales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Mockup  </a:t>
            </a:r>
            <a:endParaRPr/>
          </a:p>
        </p:txBody>
      </p:sp>
      <p:pic>
        <p:nvPicPr>
          <p:cNvPr id="200" name="Google Shape;2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5" y="1441977"/>
            <a:ext cx="2709700" cy="229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9700" y="1448450"/>
            <a:ext cx="3064425" cy="26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5725" y="1448450"/>
            <a:ext cx="2936100" cy="30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5" y="3700175"/>
            <a:ext cx="2709700" cy="29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09700" y="3736950"/>
            <a:ext cx="2956025" cy="29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3"/>
          <p:cNvPicPr preferRelativeResize="0"/>
          <p:nvPr/>
        </p:nvPicPr>
        <p:blipFill rotWithShape="1">
          <a:blip r:embed="rId8">
            <a:alphaModFix/>
          </a:blip>
          <a:srcRect b="0" l="0" r="0" t="2723"/>
          <a:stretch/>
        </p:blipFill>
        <p:spPr>
          <a:xfrm>
            <a:off x="5606600" y="3803425"/>
            <a:ext cx="3015150" cy="29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65050" y="3736950"/>
            <a:ext cx="3485725" cy="29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3"/>
          <p:cNvSpPr txBox="1"/>
          <p:nvPr/>
        </p:nvSpPr>
        <p:spPr>
          <a:xfrm>
            <a:off x="9114063" y="1473450"/>
            <a:ext cx="23877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es-MX" sz="22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admin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es-MX" sz="22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coordinador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es-MX" sz="22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profesores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es-MX" sz="22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padres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0" i="0" lang="es-MX" sz="22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estudiante</a:t>
            </a:r>
            <a:r>
              <a:rPr b="0" i="0" lang="es-MX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b="0" i="0" lang="es-MX" sz="22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Secretaria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12" name="Google Shape;2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4"/>
          <p:cNvSpPr txBox="1"/>
          <p:nvPr/>
        </p:nvSpPr>
        <p:spPr>
          <a:xfrm>
            <a:off x="650625" y="369250"/>
            <a:ext cx="4413900" cy="20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PONER EL GITHUB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18" name="Google Shape;218;g2d5f918daa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2024-03-15T00:49:27Z</dcterms:created>
  <dc:creator>Carlos Andrés Herrera Mora</dc:creator>
</cp:coreProperties>
</file>